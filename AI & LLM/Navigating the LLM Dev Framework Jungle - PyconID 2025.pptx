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</p:sldIdLst>
  <p:sldSz cy="5143500" cx="9144000"/>
  <p:notesSz cx="6858000" cy="9144000"/>
  <p:embeddedFontLst>
    <p:embeddedFont>
      <p:font typeface="Google Sans"/>
      <p:regular r:id="rId65"/>
      <p:bold r:id="rId66"/>
      <p:italic r:id="rId67"/>
      <p:boldItalic r:id="rId68"/>
    </p:embeddedFont>
    <p:embeddedFont>
      <p:font typeface="Roboto Mono"/>
      <p:regular r:id="rId69"/>
      <p:bold r:id="rId70"/>
      <p:italic r:id="rId71"/>
      <p:boldItalic r:id="rId7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7FBD8ED-221D-4B45-9652-06485656276D}">
  <a:tblStyle styleId="{97FBD8ED-221D-4B45-9652-06485656276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59DB00ED-0417-44A7-BF66-2D041AB58E33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2" Type="http://schemas.openxmlformats.org/officeDocument/2006/relationships/font" Target="fonts/RobotoMono-boldItalic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font" Target="fonts/RobotoMono-italic.fntdata"/><Relationship Id="rId70" Type="http://schemas.openxmlformats.org/officeDocument/2006/relationships/font" Target="fonts/RobotoMono-bold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font" Target="fonts/GoogleSans-bold.fntdata"/><Relationship Id="rId21" Type="http://schemas.openxmlformats.org/officeDocument/2006/relationships/slide" Target="slides/slide15.xml"/><Relationship Id="rId65" Type="http://schemas.openxmlformats.org/officeDocument/2006/relationships/font" Target="fonts/GoogleSans-regular.fntdata"/><Relationship Id="rId24" Type="http://schemas.openxmlformats.org/officeDocument/2006/relationships/slide" Target="slides/slide18.xml"/><Relationship Id="rId68" Type="http://schemas.openxmlformats.org/officeDocument/2006/relationships/font" Target="fonts/GoogleSans-boldItalic.fntdata"/><Relationship Id="rId23" Type="http://schemas.openxmlformats.org/officeDocument/2006/relationships/slide" Target="slides/slide17.xml"/><Relationship Id="rId67" Type="http://schemas.openxmlformats.org/officeDocument/2006/relationships/font" Target="fonts/GoogleSans-italic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RobotoMono-regular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ae3558712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ae3558712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e35587123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e35587123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e35587123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e35587123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e35587123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e35587123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e86b878a9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e86b878a9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e35587123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e35587123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e35587123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e35587123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e35587123_0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e35587123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e86b878a9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e86b878a9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e86b878a9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e86b878a9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e86b878a9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e86b878a9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e86b878a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e86b878a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e86b878a9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e86b878a9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e86b878a9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e86b878a9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e86b878a9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e86b878a9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e86b878a9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e86b878a9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023b3dbfb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b023b3dbfb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e86b878a9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ae86b878a9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e86b878a9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ae86b878a9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e86b878a9_0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ae86b878a9_0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e86b878a9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ae86b878a9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f235e33d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af235e33d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e86b878a9_0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ae86b878a9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af235e33d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af235e33d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af235e33d7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af235e33d7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af235e33d7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af235e33d7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af235e33d7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af235e33d7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af235e33d7_1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af235e33d7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af235e33d7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af235e33d7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af235e33d7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af235e33d7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af235e33d7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af235e33d7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af235e33d7_1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af235e33d7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af235e33d7_1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af235e33d7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b023b3db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b023b3db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af235e33d7_1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af235e33d7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af235e33d7_1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af235e33d7_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f235e33d7_1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f235e33d7_1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af235e33d7_1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af235e33d7_1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af235e33d7_1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af235e33d7_1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af235e33d7_1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af235e33d7_1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af235e33d7_1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af235e33d7_1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ae86b878a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ae86b878a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af235e33d7_1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af235e33d7_1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af235e33d7_1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af235e33d7_1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af235e33d7_1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af235e33d7_1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af235e33d7_1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af235e33d7_1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ae86b878a9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ae86b878a9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af235e33d7_1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af235e33d7_1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ae35587123_0_5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ae35587123_0_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ae86b878a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ae86b878a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b023b3dbfb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b023b3dbfb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ae35587123_0_5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ae35587123_0_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b023b3dbfb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b023b3dbfb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ae35587123_0_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ae35587123_0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ae35587123_0_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ae35587123_0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ae35587123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ae35587123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ae86b878a9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ae86b878a9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68075" y="4774200"/>
            <a:ext cx="118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@rendybjunior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10" name="Google Shape;10;p1" title="LogoHorizontal-PyConID25@8x.png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312876" y="4796730"/>
            <a:ext cx="708275" cy="24174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2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3.png"/><Relationship Id="rId4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0.png"/><Relationship Id="rId4" Type="http://schemas.openxmlformats.org/officeDocument/2006/relationships/image" Target="../media/image3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docs.crewai.com/en/concepts/tools" TargetMode="External"/><Relationship Id="rId4" Type="http://schemas.openxmlformats.org/officeDocument/2006/relationships/hyperlink" Target="https://docs.langchain.com/oss/python/integrations/tools" TargetMode="External"/><Relationship Id="rId5" Type="http://schemas.openxmlformats.org/officeDocument/2006/relationships/hyperlink" Target="https://n8n.io/integrations/" TargetMode="External"/><Relationship Id="rId6" Type="http://schemas.openxmlformats.org/officeDocument/2006/relationships/hyperlink" Target="https://google.github.io/adk-docs/tools/third-party/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community.crewai.com/t/deploying-crewai-as-an-api-service/726/20" TargetMode="External"/><Relationship Id="rId4" Type="http://schemas.openxmlformats.org/officeDocument/2006/relationships/hyperlink" Target="https://docs.n8n.io/hosting/scaling/queue-mode/#how-it-works" TargetMode="External"/><Relationship Id="rId5" Type="http://schemas.openxmlformats.org/officeDocument/2006/relationships/hyperlink" Target="https://google.github.io/adk-docs/deploy/cloud-run/#code-files" TargetMode="Externa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4.png"/><Relationship Id="rId4" Type="http://schemas.openxmlformats.org/officeDocument/2006/relationships/image" Target="../media/image30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hyperlink" Target="https://dspy.ai/" TargetMode="Externa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8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4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8" y="3690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4480"/>
              <a:t>Navigating the LLM Apps Development Framework Jungle</a:t>
            </a:r>
            <a:endParaRPr sz="4480"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24586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PyCon ID 2025, Jakarta</a:t>
            </a:r>
            <a:endParaRPr/>
          </a:p>
        </p:txBody>
      </p:sp>
      <p:pic>
        <p:nvPicPr>
          <p:cNvPr id="58" name="Google Shape;58;p13" title="LogoVertikal-PyConID25@8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0031" y="3288151"/>
            <a:ext cx="923949" cy="1205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311700" y="555600"/>
            <a:ext cx="6333300" cy="370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/>
              <a:t>Rendy B. Junior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800"/>
              <a:t>@rendybjunior </a:t>
            </a:r>
            <a:r>
              <a:rPr lang="en-GB" sz="1800"/>
              <a:t>(all social media)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/>
              <a:t>VP of Data at Evermos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/>
              <a:t>Data Analytics - Data Engineering - AI / Data Science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/>
              <a:t>Previously: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/>
              <a:t>Head of Data @ Ruangguru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/>
              <a:t>Data Engineering Lead @ Traveloka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You’ll get a </a:t>
            </a:r>
            <a:r>
              <a:rPr b="1" lang="en-GB"/>
              <a:t>bigger picture</a:t>
            </a:r>
            <a:r>
              <a:rPr lang="en-GB"/>
              <a:t> what are the differences in philosophy of the LLM dev frameworks.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You’ll get an idea what </a:t>
            </a:r>
            <a:r>
              <a:rPr b="1" lang="en-GB"/>
              <a:t>features &amp; components</a:t>
            </a:r>
            <a:r>
              <a:rPr lang="en-GB"/>
              <a:t> to expect for an LLM dev framework.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You walk away with </a:t>
            </a:r>
            <a:r>
              <a:rPr b="1" lang="en-GB"/>
              <a:t>mental model</a:t>
            </a:r>
            <a:r>
              <a:rPr lang="en-GB"/>
              <a:t> when to use which</a:t>
            </a:r>
            <a:endParaRPr/>
          </a:p>
        </p:txBody>
      </p:sp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Goal of this talk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This talk is based on survey research, not high scale production experience.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 talk does not aim for </a:t>
            </a:r>
            <a:r>
              <a:rPr lang="en-GB"/>
              <a:t>comprehensive</a:t>
            </a:r>
            <a:r>
              <a:rPr lang="en-GB"/>
              <a:t> ecosystem survey, because there’s just too many of them.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 pace of improvement of the AI dev framework are </a:t>
            </a:r>
            <a:r>
              <a:rPr lang="en-GB"/>
              <a:t>aggressive</a:t>
            </a:r>
            <a:r>
              <a:rPr lang="en-GB"/>
              <a:t>, the features and limitation mentioned might get outdated pretty quick.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AI dev ecosystem is still not mature, so you’ll expect more experiments with a bit of uncertainty for the result.</a:t>
            </a:r>
            <a:endParaRPr/>
          </a:p>
        </p:txBody>
      </p:sp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Disclaimer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3423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This is Important for us Software Engineers</a:t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7950" y="52400"/>
            <a:ext cx="4725326" cy="49201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452575" y="2315750"/>
            <a:ext cx="3493200" cy="17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Innovation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Foundation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Knowledge = Speed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Stay relevant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Talk Structure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 Basics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 Comparison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Design Philosophy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Component and Features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The Ops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 Mental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Honourable Mention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Closing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1157475"/>
            <a:ext cx="8520600" cy="202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OK. Let’s start with the basics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6100" y="0"/>
            <a:ext cx="4247901" cy="595115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2150850"/>
            <a:ext cx="38205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540"/>
              <a:t>In </a:t>
            </a:r>
            <a:r>
              <a:rPr b="1" lang="en-GB" sz="2540"/>
              <a:t>2023/2024</a:t>
            </a:r>
            <a:r>
              <a:rPr lang="en-GB" sz="2540"/>
              <a:t>, we ask LLM chat to </a:t>
            </a:r>
            <a:r>
              <a:rPr b="1" i="1" lang="en-GB" sz="2540"/>
              <a:t>consult</a:t>
            </a:r>
            <a:r>
              <a:rPr lang="en-GB" sz="2540"/>
              <a:t>.</a:t>
            </a:r>
            <a:endParaRPr sz="25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540"/>
              <a:t>&gt;&gt; fast </a:t>
            </a:r>
            <a:r>
              <a:rPr lang="en-GB" sz="2540"/>
              <a:t>forward…</a:t>
            </a:r>
            <a:endParaRPr sz="25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540"/>
              <a:t>In </a:t>
            </a:r>
            <a:r>
              <a:rPr b="1" lang="en-GB" sz="2540"/>
              <a:t>2025</a:t>
            </a:r>
            <a:r>
              <a:rPr lang="en-GB" sz="2540"/>
              <a:t>, we ask the AI agent to </a:t>
            </a:r>
            <a:r>
              <a:rPr b="1" i="1" lang="en-GB" sz="2540"/>
              <a:t>write the code</a:t>
            </a:r>
            <a:r>
              <a:rPr lang="en-GB" sz="2540"/>
              <a:t>.</a:t>
            </a:r>
            <a:endParaRPr sz="254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Agentic LLM Apps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Agentic LLM Apps</a:t>
            </a:r>
            <a:r>
              <a:rPr lang="en-GB"/>
              <a:t> do planning and take actions by connecting to tools, such as external tools and APIs.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Properties: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Use ReAct: Reasoning and Act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Call tools and API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Example: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Travel agent chatbot, do planning and booking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AI Coding IDE</a:t>
            </a:r>
            <a:endParaRPr/>
          </a:p>
        </p:txBody>
      </p:sp>
      <p:pic>
        <p:nvPicPr>
          <p:cNvPr id="106" name="Google Shape;1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7031" y="1965747"/>
            <a:ext cx="1271638" cy="474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01162" y="2407463"/>
            <a:ext cx="410329" cy="410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63918" y="2440304"/>
            <a:ext cx="1089795" cy="344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77443" y="2876797"/>
            <a:ext cx="997092" cy="30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1"/>
          <p:cNvSpPr/>
          <p:nvPr/>
        </p:nvSpPr>
        <p:spPr>
          <a:xfrm>
            <a:off x="5189825" y="2311825"/>
            <a:ext cx="352200" cy="38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D966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/>
        </p:nvSpPr>
        <p:spPr>
          <a:xfrm>
            <a:off x="4507125" y="2302375"/>
            <a:ext cx="70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595959"/>
                </a:solidFill>
                <a:latin typeface="Google Sans"/>
                <a:ea typeface="Google Sans"/>
                <a:cs typeface="Google Sans"/>
                <a:sym typeface="Google Sans"/>
              </a:rPr>
              <a:t>Input</a:t>
            </a:r>
            <a:endParaRPr b="1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2" name="Google Shape;112;p21"/>
          <p:cNvSpPr/>
          <p:nvPr/>
        </p:nvSpPr>
        <p:spPr>
          <a:xfrm>
            <a:off x="7567575" y="2311825"/>
            <a:ext cx="352200" cy="38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D966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1"/>
          <p:cNvSpPr txBox="1"/>
          <p:nvPr/>
        </p:nvSpPr>
        <p:spPr>
          <a:xfrm>
            <a:off x="7974800" y="2302375"/>
            <a:ext cx="99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595959"/>
                </a:solidFill>
                <a:highlight>
                  <a:srgbClr val="FFFF00"/>
                </a:highlight>
                <a:latin typeface="Google Sans"/>
                <a:ea typeface="Google Sans"/>
                <a:cs typeface="Google Sans"/>
                <a:sym typeface="Google Sans"/>
              </a:rPr>
              <a:t>Action</a:t>
            </a:r>
            <a:br>
              <a:rPr b="1" lang="en-GB">
                <a:solidFill>
                  <a:srgbClr val="595959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lang="en-GB">
                <a:solidFill>
                  <a:srgbClr val="595959"/>
                </a:solidFill>
                <a:latin typeface="Google Sans"/>
                <a:ea typeface="Google Sans"/>
                <a:cs typeface="Google Sans"/>
                <a:sym typeface="Google Sans"/>
              </a:rPr>
              <a:t>(API, etc)</a:t>
            </a: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4" name="Google Shape;114;p21"/>
          <p:cNvSpPr/>
          <p:nvPr/>
        </p:nvSpPr>
        <p:spPr>
          <a:xfrm>
            <a:off x="6515100" y="3197300"/>
            <a:ext cx="410400" cy="611700"/>
          </a:xfrm>
          <a:prstGeom prst="upDownArrow">
            <a:avLst>
              <a:gd fmla="val 50000" name="adj1"/>
              <a:gd fmla="val 50000" name="adj2"/>
            </a:avLst>
          </a:prstGeom>
          <a:solidFill>
            <a:srgbClr val="FFD966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1"/>
          <p:cNvSpPr/>
          <p:nvPr/>
        </p:nvSpPr>
        <p:spPr>
          <a:xfrm>
            <a:off x="6437638" y="3957175"/>
            <a:ext cx="565325" cy="611700"/>
          </a:xfrm>
          <a:prstGeom prst="flowChartMagneticDisk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db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4517"/>
            <a:ext cx="9144000" cy="44026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180300" y="116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Problem is…</a:t>
            </a:r>
            <a:endParaRPr/>
          </a:p>
        </p:txBody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88805"/>
            <a:ext cx="9144000" cy="4091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Let’s Navigate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Jungle of Framework Now!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Comparison</a:t>
            </a:r>
            <a:endParaRPr/>
          </a:p>
        </p:txBody>
      </p:sp>
      <p:sp>
        <p:nvSpPr>
          <p:cNvPr id="140" name="Google Shape;140;p2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The Survey Aspect</a:t>
            </a:r>
            <a:endParaRPr b="1" sz="1800"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-GB" sz="1800"/>
              <a:t>Design Philosophy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sz="1800"/>
              <a:t>Component &amp; Features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sz="1800"/>
              <a:t>Scalability &amp; Observability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sz="1800"/>
              <a:t>Learning Curve</a:t>
            </a:r>
            <a:endParaRPr sz="1800"/>
          </a:p>
        </p:txBody>
      </p:sp>
      <p:sp>
        <p:nvSpPr>
          <p:cNvPr id="141" name="Google Shape;141;p25"/>
          <p:cNvSpPr txBox="1"/>
          <p:nvPr>
            <p:ph idx="2" type="body"/>
          </p:nvPr>
        </p:nvSpPr>
        <p:spPr>
          <a:xfrm>
            <a:off x="4311600" y="1152475"/>
            <a:ext cx="4520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The Framework Chosen</a:t>
            </a:r>
            <a:endParaRPr b="1" sz="1800"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-GB" sz="1800"/>
              <a:t>The rising star: </a:t>
            </a:r>
            <a:r>
              <a:rPr b="1" lang="en-GB" sz="1800"/>
              <a:t>CrewAI</a:t>
            </a:r>
            <a:endParaRPr b="1"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sz="1800"/>
              <a:t>The pioneer: </a:t>
            </a:r>
            <a:r>
              <a:rPr b="1" lang="en-GB" sz="1800"/>
              <a:t>LangGraph</a:t>
            </a:r>
            <a:endParaRPr b="1"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sz="1800"/>
              <a:t>The No Code: </a:t>
            </a:r>
            <a:r>
              <a:rPr b="1" lang="en-GB" sz="1800"/>
              <a:t>n8n</a:t>
            </a:r>
            <a:endParaRPr b="1"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sz="1800"/>
              <a:t>The Vendor-centric: </a:t>
            </a:r>
            <a:r>
              <a:rPr b="1" lang="en-GB" sz="1800"/>
              <a:t>Google ADK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Design Philosophy Differences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Rising Star: </a:t>
            </a:r>
            <a:r>
              <a:rPr b="1" lang="en-GB"/>
              <a:t>CrewAI</a:t>
            </a:r>
            <a:endParaRPr b="1"/>
          </a:p>
        </p:txBody>
      </p:sp>
      <p:sp>
        <p:nvSpPr>
          <p:cNvPr id="152" name="Google Shape;152;p27"/>
          <p:cNvSpPr txBox="1"/>
          <p:nvPr>
            <p:ph idx="1" type="body"/>
          </p:nvPr>
        </p:nvSpPr>
        <p:spPr>
          <a:xfrm>
            <a:off x="311700" y="1152475"/>
            <a:ext cx="4134600" cy="34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Philosophy</a:t>
            </a:r>
            <a:r>
              <a:rPr lang="en-GB"/>
              <a:t>: agent collaboration.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Given </a:t>
            </a:r>
            <a:r>
              <a:rPr b="1" lang="en-GB"/>
              <a:t>task</a:t>
            </a:r>
            <a:r>
              <a:rPr lang="en-GB"/>
              <a:t>, create a </a:t>
            </a:r>
            <a:r>
              <a:rPr b="1" lang="en-GB"/>
              <a:t>crew</a:t>
            </a:r>
            <a:r>
              <a:rPr lang="en-GB"/>
              <a:t> of </a:t>
            </a:r>
            <a:r>
              <a:rPr b="1" lang="en-GB"/>
              <a:t>agents</a:t>
            </a:r>
            <a:r>
              <a:rPr lang="en-GB"/>
              <a:t> with specialized </a:t>
            </a:r>
            <a:r>
              <a:rPr b="1" lang="en-GB"/>
              <a:t>roles</a:t>
            </a:r>
            <a:r>
              <a:rPr lang="en-GB"/>
              <a:t> and </a:t>
            </a:r>
            <a:r>
              <a:rPr b="1" lang="en-GB"/>
              <a:t>tools</a:t>
            </a:r>
            <a:r>
              <a:rPr lang="en-GB"/>
              <a:t>, and let them </a:t>
            </a:r>
            <a:r>
              <a:rPr b="1" lang="en-GB"/>
              <a:t>collaborate</a:t>
            </a:r>
            <a:r>
              <a:rPr lang="en-GB"/>
              <a:t> to achieve the goals.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/>
              <a:t>Characteristics</a:t>
            </a:r>
            <a:r>
              <a:rPr lang="en-GB"/>
              <a:t>: Simplicity and high level abstraction.</a:t>
            </a:r>
            <a:endParaRPr/>
          </a:p>
        </p:txBody>
      </p:sp>
      <p:pic>
        <p:nvPicPr>
          <p:cNvPr id="153" name="Google Shape;153;p27"/>
          <p:cNvPicPr preferRelativeResize="0"/>
          <p:nvPr/>
        </p:nvPicPr>
        <p:blipFill rotWithShape="1">
          <a:blip r:embed="rId3">
            <a:alphaModFix/>
          </a:blip>
          <a:srcRect b="0" l="0" r="44836" t="14022"/>
          <a:stretch/>
        </p:blipFill>
        <p:spPr>
          <a:xfrm>
            <a:off x="4572000" y="184550"/>
            <a:ext cx="4302549" cy="4422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8" name="Google Shape;158;p28"/>
          <p:cNvGraphicFramePr/>
          <p:nvPr/>
        </p:nvGraphicFramePr>
        <p:xfrm>
          <a:off x="180700" y="15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{97FBD8ED-221D-4B45-9652-06485656276D}</a:tableStyleId>
              </a:tblPr>
              <a:tblGrid>
                <a:gridCol w="8782575"/>
              </a:tblGrid>
              <a:tr h="4598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2000">
                          <a:solidFill>
                            <a:srgbClr val="008000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Agent: The Researcher</a:t>
                      </a:r>
                      <a:endParaRPr b="1" sz="2000">
                        <a:solidFill>
                          <a:srgbClr val="008000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2000">
                          <a:solidFill>
                            <a:srgbClr val="001080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researcher</a:t>
                      </a:r>
                      <a:r>
                        <a:rPr b="1" lang="en-GB" sz="2000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b="1" lang="en-GB" sz="20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</a:t>
                      </a:r>
                      <a:r>
                        <a:rPr b="1" lang="en-GB" sz="2000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Agent(</a:t>
                      </a:r>
                      <a:endParaRPr b="1" sz="2000">
                        <a:solidFill>
                          <a:srgbClr val="3B3B3B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2000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b="1" lang="en-GB" sz="2000">
                          <a:solidFill>
                            <a:srgbClr val="001080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role</a:t>
                      </a:r>
                      <a:r>
                        <a:rPr b="1" lang="en-GB" sz="20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</a:t>
                      </a:r>
                      <a:r>
                        <a:rPr b="1" lang="en-GB" sz="2000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'Senior Data Researcher'</a:t>
                      </a:r>
                      <a:r>
                        <a:rPr b="1" lang="en-GB" sz="2000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</a:t>
                      </a:r>
                      <a:endParaRPr b="1" sz="2000">
                        <a:solidFill>
                          <a:srgbClr val="3B3B3B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2000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b="1" lang="en-GB" sz="2000">
                          <a:solidFill>
                            <a:srgbClr val="001080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goal</a:t>
                      </a:r>
                      <a:r>
                        <a:rPr b="1" lang="en-GB" sz="20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</a:t>
                      </a:r>
                      <a:r>
                        <a:rPr b="1" lang="en-GB" sz="2000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'Uncover </a:t>
                      </a:r>
                      <a:r>
                        <a:rPr b="1" lang="en-GB" sz="2000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developments</a:t>
                      </a:r>
                      <a:r>
                        <a:rPr b="1" lang="en-GB" sz="2000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in the field of AI Agent'</a:t>
                      </a:r>
                      <a:r>
                        <a:rPr b="1" lang="en-GB" sz="2000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</a:t>
                      </a:r>
                      <a:endParaRPr b="1" sz="2000">
                        <a:solidFill>
                          <a:srgbClr val="3B3B3B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2000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b="1" lang="en-GB" sz="2000">
                          <a:solidFill>
                            <a:srgbClr val="001080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backstory</a:t>
                      </a:r>
                      <a:r>
                        <a:rPr b="1" lang="en-GB" sz="20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</a:t>
                      </a:r>
                      <a:r>
                        <a:rPr b="1" lang="en-GB" sz="2000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"You're a researcher with a knack for </a:t>
                      </a:r>
                      <a:endParaRPr b="1" sz="2000">
                        <a:solidFill>
                          <a:srgbClr val="A31515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2000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   finding information with </a:t>
                      </a:r>
                      <a:r>
                        <a:rPr b="1" lang="en-GB" sz="2000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curiosity</a:t>
                      </a:r>
                      <a:r>
                        <a:rPr b="1" lang="en-GB" sz="2000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."</a:t>
                      </a:r>
                      <a:endParaRPr b="1" sz="2000">
                        <a:solidFill>
                          <a:srgbClr val="A31515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2000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),</a:t>
                      </a:r>
                      <a:endParaRPr b="1" sz="2000">
                        <a:solidFill>
                          <a:srgbClr val="3B3B3B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2000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b="1" lang="en-GB" sz="2000">
                          <a:solidFill>
                            <a:srgbClr val="001080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tools</a:t>
                      </a:r>
                      <a:r>
                        <a:rPr b="1" lang="en-GB" sz="20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</a:t>
                      </a:r>
                      <a:r>
                        <a:rPr b="1" lang="en-GB" sz="2000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[search_tool]</a:t>
                      </a:r>
                      <a:endParaRPr b="1" sz="2000">
                        <a:solidFill>
                          <a:srgbClr val="008000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2000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b="1" sz="2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>
            <p:ph type="title"/>
          </p:nvPr>
        </p:nvSpPr>
        <p:spPr>
          <a:xfrm>
            <a:off x="311700" y="389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Crew of Agents?</a:t>
            </a:r>
            <a:endParaRPr/>
          </a:p>
        </p:txBody>
      </p:sp>
      <p:sp>
        <p:nvSpPr>
          <p:cNvPr id="164" name="Google Shape;164;p29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Simple</a:t>
            </a:r>
            <a:r>
              <a:rPr lang="en-GB"/>
              <a:t> abstraction.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Opinionated</a:t>
            </a:r>
            <a:r>
              <a:rPr lang="en-GB"/>
              <a:t>: by certain role, backstory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Enables </a:t>
            </a:r>
            <a:r>
              <a:rPr b="1" lang="en-GB"/>
              <a:t>dynamic collaboration</a:t>
            </a:r>
            <a:r>
              <a:rPr lang="en-GB"/>
              <a:t> across agents.</a:t>
            </a:r>
            <a:endParaRPr/>
          </a:p>
        </p:txBody>
      </p:sp>
      <p:graphicFrame>
        <p:nvGraphicFramePr>
          <p:cNvPr id="165" name="Google Shape;165;p29"/>
          <p:cNvGraphicFramePr/>
          <p:nvPr/>
        </p:nvGraphicFramePr>
        <p:xfrm>
          <a:off x="311700" y="2187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{97FBD8ED-221D-4B45-9652-06485656276D}</a:tableStyleId>
              </a:tblPr>
              <a:tblGrid>
                <a:gridCol w="8520600"/>
              </a:tblGrid>
              <a:tr h="2731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8000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agents.yaml</a:t>
                      </a:r>
                      <a:endParaRPr b="1" sz="1200">
                        <a:solidFill>
                          <a:srgbClr val="008000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800000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researcher</a:t>
                      </a:r>
                      <a:r>
                        <a:rPr b="1" lang="en-GB" sz="1200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:</a:t>
                      </a:r>
                      <a:endParaRPr b="1" sz="1200">
                        <a:solidFill>
                          <a:srgbClr val="3B3B3B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b="1" lang="en-GB" sz="1200">
                          <a:solidFill>
                            <a:srgbClr val="800000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role</a:t>
                      </a:r>
                      <a:r>
                        <a:rPr b="1" lang="en-GB" sz="1200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: </a:t>
                      </a:r>
                      <a:r>
                        <a:rPr b="1" lang="en-GB" sz="1200">
                          <a:solidFill>
                            <a:srgbClr val="AF00D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&gt;</a:t>
                      </a:r>
                      <a:endParaRPr b="1" sz="1200">
                        <a:solidFill>
                          <a:srgbClr val="AF00DB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{topic} Senior Data Researcher</a:t>
                      </a:r>
                      <a:endParaRPr b="1" sz="1200">
                        <a:solidFill>
                          <a:srgbClr val="0000FF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b="1" lang="en-GB" sz="1200">
                          <a:solidFill>
                            <a:srgbClr val="800000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goal</a:t>
                      </a:r>
                      <a:r>
                        <a:rPr b="1" lang="en-GB" sz="1200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: </a:t>
                      </a:r>
                      <a:r>
                        <a:rPr b="1" lang="en-GB" sz="1200">
                          <a:solidFill>
                            <a:srgbClr val="AF00D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&gt;</a:t>
                      </a:r>
                      <a:endParaRPr b="1" sz="1200">
                        <a:solidFill>
                          <a:srgbClr val="AF00DB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Uncover cutting-edge developments in {topic}</a:t>
                      </a:r>
                      <a:endParaRPr b="1" sz="1200">
                        <a:solidFill>
                          <a:srgbClr val="0000FF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b="1" lang="en-GB" sz="1200">
                          <a:solidFill>
                            <a:srgbClr val="800000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backstory</a:t>
                      </a:r>
                      <a:r>
                        <a:rPr b="1" lang="en-GB" sz="1200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: </a:t>
                      </a:r>
                      <a:r>
                        <a:rPr b="1" lang="en-GB" sz="1200">
                          <a:solidFill>
                            <a:srgbClr val="AF00D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&gt;</a:t>
                      </a:r>
                      <a:endParaRPr b="1" sz="1200">
                        <a:solidFill>
                          <a:srgbClr val="AF00DB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You're a seasoned researcher with a knack for uncovering the latest</a:t>
                      </a:r>
                      <a:endParaRPr b="1" sz="1200">
                        <a:solidFill>
                          <a:srgbClr val="0000FF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developments in {topic}. Known for your ability to find the most relevant information</a:t>
                      </a:r>
                      <a:endParaRPr b="1">
                        <a:solidFill>
                          <a:srgbClr val="008000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7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06439"/>
            <a:ext cx="9144001" cy="4130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Pioneer: </a:t>
            </a:r>
            <a:r>
              <a:rPr b="1" lang="en-GB"/>
              <a:t>LangGraph</a:t>
            </a:r>
            <a:endParaRPr b="1"/>
          </a:p>
        </p:txBody>
      </p:sp>
      <p:sp>
        <p:nvSpPr>
          <p:cNvPr id="178" name="Google Shape;178;p31"/>
          <p:cNvSpPr txBox="1"/>
          <p:nvPr>
            <p:ph idx="1" type="body"/>
          </p:nvPr>
        </p:nvSpPr>
        <p:spPr>
          <a:xfrm>
            <a:off x="311700" y="1152475"/>
            <a:ext cx="508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Philosophy</a:t>
            </a:r>
            <a:r>
              <a:rPr lang="en-GB"/>
              <a:t>: </a:t>
            </a:r>
            <a:r>
              <a:rPr lang="en-GB"/>
              <a:t>LLM is a node in a graph of logic flow.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Graph enables explicit control on </a:t>
            </a:r>
            <a:r>
              <a:rPr lang="en-GB"/>
              <a:t>every step, decision, and loop. Try to achieve reliability and debugging. </a:t>
            </a:r>
            <a:r>
              <a:rPr b="1" lang="en-GB"/>
              <a:t>Part of LangChain ecosystem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/>
              <a:t>Characteristics</a:t>
            </a:r>
            <a:r>
              <a:rPr lang="en-GB"/>
              <a:t>: </a:t>
            </a:r>
            <a:r>
              <a:rPr lang="en-GB"/>
              <a:t>Explicit control</a:t>
            </a:r>
            <a:r>
              <a:rPr lang="en-GB"/>
              <a:t> on the flow.</a:t>
            </a:r>
            <a:endParaRPr/>
          </a:p>
        </p:txBody>
      </p:sp>
      <p:pic>
        <p:nvPicPr>
          <p:cNvPr id="179" name="Google Shape;17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2775" y="588625"/>
            <a:ext cx="1304599" cy="1304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8000" y="1951950"/>
            <a:ext cx="3445199" cy="2455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5" name="Google Shape;185;p32"/>
          <p:cNvGraphicFramePr/>
          <p:nvPr/>
        </p:nvGraphicFramePr>
        <p:xfrm>
          <a:off x="328500" y="226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{97FBD8ED-221D-4B45-9652-06485656276D}</a:tableStyleId>
              </a:tblPr>
              <a:tblGrid>
                <a:gridCol w="52088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001080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agent_builder</a:t>
                      </a:r>
                      <a:r>
                        <a:rPr b="1" lang="en-GB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b="1" lang="en-GB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</a:t>
                      </a:r>
                      <a:r>
                        <a:rPr b="1" lang="en-GB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StateGraph(MessagesState)</a:t>
                      </a:r>
                      <a:endParaRPr b="1">
                        <a:solidFill>
                          <a:srgbClr val="3B3B3B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3B3B3B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>
                          <a:solidFill>
                            <a:srgbClr val="008000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Add nodes</a:t>
                      </a:r>
                      <a:endParaRPr b="1">
                        <a:solidFill>
                          <a:srgbClr val="008000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>
                          <a:solidFill>
                            <a:srgbClr val="001080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agent_builder</a:t>
                      </a:r>
                      <a:r>
                        <a:rPr b="1" lang="en-GB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.add_node(</a:t>
                      </a:r>
                      <a:r>
                        <a:rPr b="1" lang="en-GB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"llm_call"</a:t>
                      </a:r>
                      <a:r>
                        <a:rPr b="1" lang="en-GB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llm_call)</a:t>
                      </a:r>
                      <a:endParaRPr b="1">
                        <a:solidFill>
                          <a:srgbClr val="3B3B3B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>
                          <a:solidFill>
                            <a:srgbClr val="001080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agent_builder</a:t>
                      </a:r>
                      <a:r>
                        <a:rPr b="1" lang="en-GB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.add_node(</a:t>
                      </a:r>
                      <a:r>
                        <a:rPr b="1" lang="en-GB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"tool_node"</a:t>
                      </a:r>
                      <a:r>
                        <a:rPr b="1" lang="en-GB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tool_node)</a:t>
                      </a:r>
                      <a:endParaRPr b="1">
                        <a:solidFill>
                          <a:srgbClr val="3B3B3B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3B3B3B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>
                          <a:solidFill>
                            <a:srgbClr val="008000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Add edges</a:t>
                      </a:r>
                      <a:endParaRPr b="1">
                        <a:solidFill>
                          <a:srgbClr val="008000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>
                          <a:solidFill>
                            <a:srgbClr val="001080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agent_builder</a:t>
                      </a:r>
                      <a:r>
                        <a:rPr b="1" lang="en-GB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.add_edge(START, </a:t>
                      </a:r>
                      <a:r>
                        <a:rPr b="1" lang="en-GB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"llm_call"</a:t>
                      </a:r>
                      <a:r>
                        <a:rPr b="1" lang="en-GB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b="1">
                        <a:solidFill>
                          <a:srgbClr val="3B3B3B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>
                          <a:solidFill>
                            <a:srgbClr val="001080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agent_builder</a:t>
                      </a:r>
                      <a:r>
                        <a:rPr b="1" lang="en-GB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.add_conditional_edges(</a:t>
                      </a:r>
                      <a:endParaRPr b="1">
                        <a:solidFill>
                          <a:srgbClr val="3B3B3B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b="1" lang="en-GB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"llm_call"</a:t>
                      </a:r>
                      <a:r>
                        <a:rPr b="1" lang="en-GB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</a:t>
                      </a:r>
                      <a:endParaRPr b="1">
                        <a:solidFill>
                          <a:srgbClr val="3B3B3B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should_continue,</a:t>
                      </a:r>
                      <a:endParaRPr b="1">
                        <a:solidFill>
                          <a:srgbClr val="3B3B3B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[</a:t>
                      </a:r>
                      <a:r>
                        <a:rPr b="1" lang="en-GB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"tool_node"</a:t>
                      </a:r>
                      <a:r>
                        <a:rPr b="1" lang="en-GB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END]</a:t>
                      </a:r>
                      <a:endParaRPr b="1">
                        <a:solidFill>
                          <a:srgbClr val="3B3B3B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b="1">
                        <a:solidFill>
                          <a:srgbClr val="3B3B3B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001080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agent_builder</a:t>
                      </a:r>
                      <a:r>
                        <a:rPr b="1" lang="en-GB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.add_edge(</a:t>
                      </a:r>
                      <a:r>
                        <a:rPr b="1" lang="en-GB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"tool_node"</a:t>
                      </a:r>
                      <a:r>
                        <a:rPr b="1" lang="en-GB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b="1" lang="en-GB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"llm_call"</a:t>
                      </a:r>
                      <a:r>
                        <a:rPr b="1" lang="en-GB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b="1" sz="1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6" name="Google Shape;186;p32"/>
          <p:cNvSpPr txBox="1"/>
          <p:nvPr/>
        </p:nvSpPr>
        <p:spPr>
          <a:xfrm>
            <a:off x="3578925" y="469800"/>
            <a:ext cx="245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highlight>
                  <a:srgbClr val="FFFF00"/>
                </a:highlight>
              </a:rPr>
              <a:t>Graph has a shared state</a:t>
            </a:r>
            <a:endParaRPr>
              <a:solidFill>
                <a:schemeClr val="dk2"/>
              </a:solidFill>
              <a:highlight>
                <a:srgbClr val="FFFF00"/>
              </a:highlight>
            </a:endParaRPr>
          </a:p>
        </p:txBody>
      </p:sp>
      <p:sp>
        <p:nvSpPr>
          <p:cNvPr id="187" name="Google Shape;187;p32"/>
          <p:cNvSpPr txBox="1"/>
          <p:nvPr/>
        </p:nvSpPr>
        <p:spPr>
          <a:xfrm>
            <a:off x="2533475" y="3415725"/>
            <a:ext cx="239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highlight>
                  <a:srgbClr val="FFFF00"/>
                </a:highlight>
              </a:rPr>
              <a:t>Stop when no tool is called</a:t>
            </a:r>
            <a:endParaRPr>
              <a:solidFill>
                <a:schemeClr val="dk2"/>
              </a:solidFill>
              <a:highlight>
                <a:srgbClr val="FFFF00"/>
              </a:highlight>
            </a:endParaRPr>
          </a:p>
        </p:txBody>
      </p:sp>
      <p:sp>
        <p:nvSpPr>
          <p:cNvPr id="188" name="Google Shape;188;p32"/>
          <p:cNvSpPr txBox="1"/>
          <p:nvPr/>
        </p:nvSpPr>
        <p:spPr>
          <a:xfrm>
            <a:off x="4664550" y="4624750"/>
            <a:ext cx="282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highlight>
                  <a:srgbClr val="FFFF00"/>
                </a:highlight>
              </a:rPr>
              <a:t>Loop back to LLM after tool call</a:t>
            </a:r>
            <a:endParaRPr>
              <a:solidFill>
                <a:schemeClr val="dk2"/>
              </a:solidFill>
              <a:highlight>
                <a:srgbClr val="FFFF00"/>
              </a:highlight>
            </a:endParaRPr>
          </a:p>
        </p:txBody>
      </p:sp>
      <p:sp>
        <p:nvSpPr>
          <p:cNvPr id="189" name="Google Shape;189;p32"/>
          <p:cNvSpPr/>
          <p:nvPr/>
        </p:nvSpPr>
        <p:spPr>
          <a:xfrm>
            <a:off x="6274950" y="1644225"/>
            <a:ext cx="1216200" cy="44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LLM Node</a:t>
            </a:r>
            <a:endParaRPr/>
          </a:p>
        </p:txBody>
      </p:sp>
      <p:sp>
        <p:nvSpPr>
          <p:cNvPr id="190" name="Google Shape;190;p32"/>
          <p:cNvSpPr/>
          <p:nvPr/>
        </p:nvSpPr>
        <p:spPr>
          <a:xfrm>
            <a:off x="6274950" y="3405875"/>
            <a:ext cx="1216200" cy="44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Tool</a:t>
            </a:r>
            <a:endParaRPr/>
          </a:p>
        </p:txBody>
      </p:sp>
      <p:sp>
        <p:nvSpPr>
          <p:cNvPr id="191" name="Google Shape;191;p32"/>
          <p:cNvSpPr/>
          <p:nvPr/>
        </p:nvSpPr>
        <p:spPr>
          <a:xfrm>
            <a:off x="6240450" y="2318941"/>
            <a:ext cx="1285200" cy="856800"/>
          </a:xfrm>
          <a:prstGeom prst="flowChartDecis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Call tool?</a:t>
            </a:r>
            <a:endParaRPr/>
          </a:p>
        </p:txBody>
      </p:sp>
      <p:cxnSp>
        <p:nvCxnSpPr>
          <p:cNvPr id="192" name="Google Shape;192;p32"/>
          <p:cNvCxnSpPr>
            <a:stCxn id="190" idx="1"/>
            <a:endCxn id="189" idx="1"/>
          </p:cNvCxnSpPr>
          <p:nvPr/>
        </p:nvCxnSpPr>
        <p:spPr>
          <a:xfrm flipH="1" rot="10800000">
            <a:off x="6274950" y="1866575"/>
            <a:ext cx="600" cy="17616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" name="Google Shape;193;p32"/>
          <p:cNvCxnSpPr>
            <a:stCxn id="189" idx="2"/>
            <a:endCxn id="191" idx="0"/>
          </p:cNvCxnSpPr>
          <p:nvPr/>
        </p:nvCxnSpPr>
        <p:spPr>
          <a:xfrm flipH="1" rot="-5400000">
            <a:off x="6768300" y="2203575"/>
            <a:ext cx="230100" cy="600"/>
          </a:xfrm>
          <a:prstGeom prst="bentConnector3">
            <a:avLst>
              <a:gd fmla="val 5000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" name="Google Shape;194;p32"/>
          <p:cNvCxnSpPr>
            <a:stCxn id="191" idx="2"/>
            <a:endCxn id="190" idx="0"/>
          </p:cNvCxnSpPr>
          <p:nvPr/>
        </p:nvCxnSpPr>
        <p:spPr>
          <a:xfrm>
            <a:off x="6883050" y="3175741"/>
            <a:ext cx="0" cy="23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5" name="Google Shape;195;p32"/>
          <p:cNvSpPr/>
          <p:nvPr/>
        </p:nvSpPr>
        <p:spPr>
          <a:xfrm>
            <a:off x="6564300" y="738225"/>
            <a:ext cx="637500" cy="637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Start</a:t>
            </a:r>
            <a:endParaRPr sz="900"/>
          </a:p>
        </p:txBody>
      </p:sp>
      <p:sp>
        <p:nvSpPr>
          <p:cNvPr id="196" name="Google Shape;196;p32"/>
          <p:cNvSpPr/>
          <p:nvPr/>
        </p:nvSpPr>
        <p:spPr>
          <a:xfrm>
            <a:off x="7929000" y="2428625"/>
            <a:ext cx="637500" cy="637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End</a:t>
            </a:r>
            <a:endParaRPr sz="900"/>
          </a:p>
        </p:txBody>
      </p:sp>
      <p:cxnSp>
        <p:nvCxnSpPr>
          <p:cNvPr id="197" name="Google Shape;197;p32"/>
          <p:cNvCxnSpPr>
            <a:stCxn id="191" idx="3"/>
            <a:endCxn id="196" idx="2"/>
          </p:cNvCxnSpPr>
          <p:nvPr/>
        </p:nvCxnSpPr>
        <p:spPr>
          <a:xfrm>
            <a:off x="7525650" y="2747341"/>
            <a:ext cx="40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8" name="Google Shape;198;p32"/>
          <p:cNvSpPr txBox="1"/>
          <p:nvPr/>
        </p:nvSpPr>
        <p:spPr>
          <a:xfrm>
            <a:off x="7004800" y="3129075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</a:rPr>
              <a:t>Yes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99" name="Google Shape;199;p32"/>
          <p:cNvSpPr txBox="1"/>
          <p:nvPr/>
        </p:nvSpPr>
        <p:spPr>
          <a:xfrm>
            <a:off x="7491150" y="2389225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</a:rPr>
              <a:t>No</a:t>
            </a:r>
            <a:endParaRPr sz="1000">
              <a:solidFill>
                <a:schemeClr val="dk2"/>
              </a:solidFill>
            </a:endParaRPr>
          </a:p>
        </p:txBody>
      </p:sp>
      <p:cxnSp>
        <p:nvCxnSpPr>
          <p:cNvPr id="200" name="Google Shape;200;p32"/>
          <p:cNvCxnSpPr>
            <a:stCxn id="195" idx="4"/>
            <a:endCxn id="189" idx="0"/>
          </p:cNvCxnSpPr>
          <p:nvPr/>
        </p:nvCxnSpPr>
        <p:spPr>
          <a:xfrm>
            <a:off x="6883050" y="1375725"/>
            <a:ext cx="0" cy="26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3"/>
          <p:cNvSpPr txBox="1"/>
          <p:nvPr>
            <p:ph type="title"/>
          </p:nvPr>
        </p:nvSpPr>
        <p:spPr>
          <a:xfrm>
            <a:off x="311700" y="23531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Graph of LLM Nodes?</a:t>
            </a:r>
            <a:endParaRPr/>
          </a:p>
        </p:txBody>
      </p:sp>
      <p:sp>
        <p:nvSpPr>
          <p:cNvPr id="206" name="Google Shape;206;p33"/>
          <p:cNvSpPr txBox="1"/>
          <p:nvPr>
            <p:ph idx="1" type="body"/>
          </p:nvPr>
        </p:nvSpPr>
        <p:spPr>
          <a:xfrm>
            <a:off x="311700" y="933835"/>
            <a:ext cx="8520600" cy="13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Low level control of flow. Micromanaging “Anak Intern”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Enable looping, e.g. for self correction, for repeated improvements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Define the </a:t>
            </a:r>
            <a:r>
              <a:rPr lang="en-GB" sz="1600"/>
              <a:t>exit criteria of a flow = controllable quality.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Focus on orchestration: durable execution, human-in-the-loop</a:t>
            </a:r>
            <a:endParaRPr sz="1600"/>
          </a:p>
        </p:txBody>
      </p:sp>
      <p:graphicFrame>
        <p:nvGraphicFramePr>
          <p:cNvPr id="207" name="Google Shape;207;p33"/>
          <p:cNvGraphicFramePr/>
          <p:nvPr/>
        </p:nvGraphicFramePr>
        <p:xfrm>
          <a:off x="437525" y="2222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{97FBD8ED-221D-4B45-9652-06485656276D}</a:tableStyleId>
              </a:tblPr>
              <a:tblGrid>
                <a:gridCol w="8556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001080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agent</a:t>
                      </a:r>
                      <a:r>
                        <a:rPr b="1" lang="en-GB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b="1" lang="en-GB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</a:t>
                      </a:r>
                      <a:r>
                        <a:rPr b="1" lang="en-GB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create_agent(</a:t>
                      </a:r>
                      <a:endParaRPr b="1">
                        <a:solidFill>
                          <a:srgbClr val="3B3B3B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b="1" lang="en-GB">
                          <a:solidFill>
                            <a:srgbClr val="008000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...</a:t>
                      </a:r>
                      <a:endParaRPr b="1">
                        <a:solidFill>
                          <a:srgbClr val="008000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b="1" lang="en-GB">
                          <a:solidFill>
                            <a:srgbClr val="001080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tools</a:t>
                      </a:r>
                      <a:r>
                        <a:rPr b="1" lang="en-GB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</a:t>
                      </a:r>
                      <a:r>
                        <a:rPr b="1" lang="en-GB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[execute_sql_tool, read_data_tool],</a:t>
                      </a:r>
                      <a:endParaRPr b="1">
                        <a:solidFill>
                          <a:srgbClr val="3B3B3B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r>
                        <a:rPr b="1" lang="en-GB">
                          <a:solidFill>
                            <a:srgbClr val="001080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middleware</a:t>
                      </a:r>
                      <a:r>
                        <a:rPr b="1" lang="en-GB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</a:t>
                      </a:r>
                      <a:r>
                        <a:rPr b="1" lang="en-GB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[</a:t>
                      </a:r>
                      <a:endParaRPr b="1">
                        <a:solidFill>
                          <a:srgbClr val="3B3B3B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</a:t>
                      </a:r>
                      <a:r>
                        <a:rPr b="1" lang="en-GB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HumanInTheLoopMiddleware(</a:t>
                      </a:r>
                      <a:endParaRPr b="1">
                        <a:solidFill>
                          <a:srgbClr val="3B3B3B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    </a:t>
                      </a:r>
                      <a:r>
                        <a:rPr b="1" lang="en-GB">
                          <a:solidFill>
                            <a:srgbClr val="001080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interrupt_on</a:t>
                      </a:r>
                      <a:r>
                        <a:rPr b="1" lang="en-GB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</a:t>
                      </a:r>
                      <a:r>
                        <a:rPr b="1" lang="en-GB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</a:t>
                      </a:r>
                      <a:endParaRPr b="1">
                        <a:solidFill>
                          <a:srgbClr val="3B3B3B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        </a:t>
                      </a:r>
                      <a:r>
                        <a:rPr b="1" lang="en-GB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"execute_sql"</a:t>
                      </a:r>
                      <a:r>
                        <a:rPr b="1" lang="en-GB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: </a:t>
                      </a:r>
                      <a:r>
                        <a:rPr b="1" lang="en-GB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True</a:t>
                      </a:r>
                      <a:r>
                        <a:rPr b="1" lang="en-GB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</a:t>
                      </a:r>
                      <a:endParaRPr b="1">
                        <a:solidFill>
                          <a:srgbClr val="3B3B3B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        </a:t>
                      </a:r>
                      <a:r>
                        <a:rPr b="1" lang="en-GB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"read_data"</a:t>
                      </a:r>
                      <a:r>
                        <a:rPr b="1" lang="en-GB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: </a:t>
                      </a:r>
                      <a:r>
                        <a:rPr b="1" lang="en-GB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False</a:t>
                      </a:r>
                      <a:r>
                        <a:rPr b="1" lang="en-GB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b="1" lang="en-GB">
                          <a:solidFill>
                            <a:srgbClr val="008000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Safe operation, no approval needed</a:t>
                      </a:r>
                      <a:endParaRPr b="1"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No Code: </a:t>
            </a:r>
            <a:r>
              <a:rPr b="1" lang="en-GB"/>
              <a:t>n8n</a:t>
            </a:r>
            <a:endParaRPr b="1"/>
          </a:p>
        </p:txBody>
      </p:sp>
      <p:sp>
        <p:nvSpPr>
          <p:cNvPr id="213" name="Google Shape;213;p34"/>
          <p:cNvSpPr txBox="1"/>
          <p:nvPr>
            <p:ph idx="1" type="body"/>
          </p:nvPr>
        </p:nvSpPr>
        <p:spPr>
          <a:xfrm>
            <a:off x="216450" y="1177650"/>
            <a:ext cx="4847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Philosophy</a:t>
            </a:r>
            <a:r>
              <a:rPr lang="en-GB"/>
              <a:t>: no code workflow automation.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Historically, </a:t>
            </a:r>
            <a:r>
              <a:rPr lang="en-GB"/>
              <a:t>n</a:t>
            </a:r>
            <a:r>
              <a:rPr lang="en-GB"/>
              <a:t>8n was a generic workflow automation. </a:t>
            </a:r>
            <a:r>
              <a:rPr lang="en-GB"/>
              <a:t>Since LLM boom, adopted for AI workflow automation.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/>
              <a:t>Characteristic</a:t>
            </a:r>
            <a:r>
              <a:rPr lang="en-GB"/>
              <a:t>: Easy to use, drag and drop interface.</a:t>
            </a:r>
            <a:endParaRPr/>
          </a:p>
        </p:txBody>
      </p:sp>
      <p:pic>
        <p:nvPicPr>
          <p:cNvPr id="214" name="Google Shape;214;p34"/>
          <p:cNvPicPr preferRelativeResize="0"/>
          <p:nvPr/>
        </p:nvPicPr>
        <p:blipFill rotWithShape="1">
          <a:blip r:embed="rId3">
            <a:alphaModFix/>
          </a:blip>
          <a:srcRect b="8015" l="18151" r="17481" t="21362"/>
          <a:stretch/>
        </p:blipFill>
        <p:spPr>
          <a:xfrm>
            <a:off x="4955975" y="1177650"/>
            <a:ext cx="3969901" cy="257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8850" y="235847"/>
            <a:ext cx="1954650" cy="781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9352" y="905512"/>
            <a:ext cx="2112275" cy="276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5"/>
          <p:cNvPicPr preferRelativeResize="0"/>
          <p:nvPr/>
        </p:nvPicPr>
        <p:blipFill rotWithShape="1">
          <a:blip r:embed="rId4">
            <a:alphaModFix/>
          </a:blip>
          <a:srcRect b="0" l="16593" r="11572" t="0"/>
          <a:stretch/>
        </p:blipFill>
        <p:spPr>
          <a:xfrm>
            <a:off x="88075" y="553675"/>
            <a:ext cx="6338099" cy="3743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36" title="star-history-20251210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716" y="0"/>
            <a:ext cx="7031967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44100" y="122334"/>
            <a:ext cx="1954650" cy="781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44100" y="1017720"/>
            <a:ext cx="1230525" cy="123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/>
          <p:nvPr>
            <p:ph idx="1" type="body"/>
          </p:nvPr>
        </p:nvSpPr>
        <p:spPr>
          <a:xfrm>
            <a:off x="311700" y="1152475"/>
            <a:ext cx="4025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Speed</a:t>
            </a:r>
            <a:r>
              <a:rPr lang="en-GB"/>
              <a:t> of development.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LLM apps is </a:t>
            </a:r>
            <a:r>
              <a:rPr b="1" lang="en-GB"/>
              <a:t>configurable</a:t>
            </a:r>
            <a:r>
              <a:rPr lang="en-GB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Democratize</a:t>
            </a:r>
            <a:r>
              <a:rPr lang="en-GB"/>
              <a:t> to </a:t>
            </a:r>
            <a:r>
              <a:rPr lang="en-GB" strike="sngStrike"/>
              <a:t>non</a:t>
            </a:r>
            <a:r>
              <a:rPr lang="en-GB"/>
              <a:t> less technical people.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Easier</a:t>
            </a:r>
            <a:r>
              <a:rPr lang="en-GB"/>
              <a:t> to understand graph (</a:t>
            </a:r>
            <a:r>
              <a:rPr b="1" lang="en-GB"/>
              <a:t>WYSIWYG</a:t>
            </a:r>
            <a:r>
              <a:rPr lang="en-GB"/>
              <a:t>).</a:t>
            </a:r>
            <a:endParaRPr/>
          </a:p>
        </p:txBody>
      </p:sp>
      <p:sp>
        <p:nvSpPr>
          <p:cNvPr id="234" name="Google Shape;234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No Code?</a:t>
            </a:r>
            <a:endParaRPr/>
          </a:p>
        </p:txBody>
      </p:sp>
      <p:pic>
        <p:nvPicPr>
          <p:cNvPr id="235" name="Google Shape;235;p37"/>
          <p:cNvPicPr preferRelativeResize="0"/>
          <p:nvPr/>
        </p:nvPicPr>
        <p:blipFill rotWithShape="1">
          <a:blip r:embed="rId3">
            <a:alphaModFix/>
          </a:blip>
          <a:srcRect b="8015" l="18151" r="17481" t="21362"/>
          <a:stretch/>
        </p:blipFill>
        <p:spPr>
          <a:xfrm>
            <a:off x="4733550" y="1283162"/>
            <a:ext cx="3969901" cy="257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Vendor Centric: </a:t>
            </a:r>
            <a:r>
              <a:rPr b="1" lang="en-GB"/>
              <a:t>Agent Development Kit (ADK)</a:t>
            </a:r>
            <a:endParaRPr b="1"/>
          </a:p>
        </p:txBody>
      </p:sp>
      <p:sp>
        <p:nvSpPr>
          <p:cNvPr id="241" name="Google Shape;241;p38"/>
          <p:cNvSpPr txBox="1"/>
          <p:nvPr>
            <p:ph idx="1" type="body"/>
          </p:nvPr>
        </p:nvSpPr>
        <p:spPr>
          <a:xfrm>
            <a:off x="311700" y="1152475"/>
            <a:ext cx="6458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Philosophy</a:t>
            </a:r>
            <a:r>
              <a:rPr lang="en-GB"/>
              <a:t>: Asynchronous event based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Events are the fundamental units of information flow within the ADK. </a:t>
            </a:r>
            <a:r>
              <a:rPr lang="en-GB"/>
              <a:t>All that happens treated as </a:t>
            </a:r>
            <a:r>
              <a:rPr b="1" lang="en-GB"/>
              <a:t>events</a:t>
            </a:r>
            <a:r>
              <a:rPr lang="en-GB"/>
              <a:t> such as input to the LLM, agent reasoning, calling tools, callback.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/>
              <a:t>Characteristics</a:t>
            </a:r>
            <a:r>
              <a:rPr lang="en-GB"/>
              <a:t>: Native integration to Google product such as Google Search, Vertex (Google Cloud)</a:t>
            </a:r>
            <a:endParaRPr/>
          </a:p>
        </p:txBody>
      </p:sp>
      <p:pic>
        <p:nvPicPr>
          <p:cNvPr id="242" name="Google Shape;24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9200" y="1420525"/>
            <a:ext cx="1151226" cy="1151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9" name="Google Shape;24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4051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0"/>
          <p:cNvSpPr txBox="1"/>
          <p:nvPr>
            <p:ph idx="1" type="body"/>
          </p:nvPr>
        </p:nvSpPr>
        <p:spPr>
          <a:xfrm>
            <a:off x="353625" y="5233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1" lang="en-GB" sz="16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GB" sz="16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search_train</a:t>
            </a:r>
            <a:r>
              <a:rPr b="1" lang="en-GB" sz="16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-GB" sz="16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origin</a:t>
            </a:r>
            <a:r>
              <a:rPr b="1" lang="en-GB" sz="16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1" lang="en-GB" sz="16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r>
              <a:rPr b="1" lang="en-GB" sz="16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-GB" sz="16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dest</a:t>
            </a:r>
            <a:r>
              <a:rPr b="1" lang="en-GB" sz="16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1" lang="en-GB" sz="16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r>
              <a:rPr b="1" lang="en-GB" sz="16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-GB" sz="16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date</a:t>
            </a:r>
            <a:r>
              <a:rPr b="1" lang="en-GB" sz="16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1" lang="en-GB" sz="16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r>
              <a:rPr b="1" lang="en-GB" sz="16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-GB" sz="16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pax</a:t>
            </a:r>
            <a:r>
              <a:rPr b="1" lang="en-GB" sz="16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1" lang="en-GB" sz="16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-GB" sz="16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):...</a:t>
            </a:r>
            <a:endParaRPr b="1" sz="16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1" lang="en-GB" sz="16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GB" sz="16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book_train</a:t>
            </a:r>
            <a:r>
              <a:rPr b="1" lang="en-GB" sz="16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-GB" sz="16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code</a:t>
            </a:r>
            <a:r>
              <a:rPr b="1" lang="en-GB" sz="16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1" lang="en-GB" sz="16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r>
              <a:rPr b="1" lang="en-GB" sz="16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-GB" sz="16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1" lang="en-GB" sz="16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1" lang="en-GB" sz="16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r>
              <a:rPr b="1" lang="en-GB" sz="16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):...</a:t>
            </a:r>
            <a:endParaRPr b="1" sz="16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root_agent</a:t>
            </a:r>
            <a:r>
              <a:rPr b="1" lang="en-GB" sz="16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GB" sz="16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en-GB" sz="16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GB" sz="16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Agent</a:t>
            </a:r>
            <a:r>
              <a:rPr b="1" lang="en-GB" sz="16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b="1" sz="16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-GB" sz="16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model</a:t>
            </a:r>
            <a:r>
              <a:rPr b="1" lang="en-GB" sz="16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en-GB" sz="16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MODEL,</a:t>
            </a:r>
            <a:endParaRPr b="1" sz="16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-GB" sz="16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b="1" sz="16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-GB" sz="16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instruction</a:t>
            </a:r>
            <a:r>
              <a:rPr b="1" lang="en-GB" sz="16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en-GB" sz="16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"You are a travel agent for search and book train."</a:t>
            </a:r>
            <a:r>
              <a:rPr b="1" lang="en-GB" sz="16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1" sz="16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-GB" sz="16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tools</a:t>
            </a:r>
            <a:r>
              <a:rPr b="1" lang="en-GB" sz="16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en-GB" sz="16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-GB" sz="16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search_train</a:t>
            </a:r>
            <a:r>
              <a:rPr b="1" lang="en-GB" sz="16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-GB" sz="16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book_train</a:t>
            </a:r>
            <a:r>
              <a:rPr b="1" lang="en-GB" sz="16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b="1" sz="16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2500"/>
          </a:p>
        </p:txBody>
      </p:sp>
      <p:sp>
        <p:nvSpPr>
          <p:cNvPr id="255" name="Google Shape;255;p40"/>
          <p:cNvSpPr txBox="1"/>
          <p:nvPr/>
        </p:nvSpPr>
        <p:spPr>
          <a:xfrm>
            <a:off x="4819050" y="3576350"/>
            <a:ext cx="184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solidFill>
                  <a:schemeClr val="dk2"/>
                </a:solidFill>
                <a:highlight>
                  <a:srgbClr val="FFFF00"/>
                </a:highlight>
              </a:rPr>
              <a:t>This is called </a:t>
            </a:r>
            <a:r>
              <a:rPr b="1" i="1" lang="en-GB">
                <a:solidFill>
                  <a:schemeClr val="dk2"/>
                </a:solidFill>
                <a:highlight>
                  <a:srgbClr val="FFFF00"/>
                </a:highlight>
              </a:rPr>
              <a:t>tools</a:t>
            </a:r>
            <a:endParaRPr b="1" i="1">
              <a:solidFill>
                <a:schemeClr val="dk2"/>
              </a:solidFill>
              <a:highlight>
                <a:srgbClr val="FFFF00"/>
              </a:highlight>
            </a:endParaRPr>
          </a:p>
        </p:txBody>
      </p:sp>
      <p:sp>
        <p:nvSpPr>
          <p:cNvPr id="256" name="Google Shape;256;p40"/>
          <p:cNvSpPr txBox="1"/>
          <p:nvPr/>
        </p:nvSpPr>
        <p:spPr>
          <a:xfrm>
            <a:off x="2949450" y="1923700"/>
            <a:ext cx="2897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>
                <a:solidFill>
                  <a:schemeClr val="dk2"/>
                </a:solidFill>
                <a:highlight>
                  <a:srgbClr val="FFFF00"/>
                </a:highlight>
              </a:rPr>
              <a:t>Agent Declaration. </a:t>
            </a:r>
            <a:endParaRPr b="1" i="1">
              <a:solidFill>
                <a:schemeClr val="dk2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2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solidFill>
                  <a:schemeClr val="dk2"/>
                </a:solidFill>
                <a:highlight>
                  <a:srgbClr val="FFFF00"/>
                </a:highlight>
              </a:rPr>
              <a:t>Usually LLM, Memory, tool, etc configured here</a:t>
            </a:r>
            <a:endParaRPr b="1" i="1">
              <a:solidFill>
                <a:schemeClr val="dk2"/>
              </a:solidFill>
              <a:highlight>
                <a:srgbClr val="FFFF00"/>
              </a:highlight>
            </a:endParaRPr>
          </a:p>
        </p:txBody>
      </p:sp>
      <p:sp>
        <p:nvSpPr>
          <p:cNvPr id="257" name="Google Shape;257;p40"/>
          <p:cNvSpPr/>
          <p:nvPr/>
        </p:nvSpPr>
        <p:spPr>
          <a:xfrm>
            <a:off x="150975" y="906000"/>
            <a:ext cx="578839" cy="2751565"/>
          </a:xfrm>
          <a:custGeom>
            <a:rect b="b" l="l" r="r" t="t"/>
            <a:pathLst>
              <a:path extrusionOk="0" h="112412" w="18795">
                <a:moveTo>
                  <a:pt x="9399" y="0"/>
                </a:moveTo>
                <a:cubicBezTo>
                  <a:pt x="7889" y="10682"/>
                  <a:pt x="1290" y="48377"/>
                  <a:pt x="339" y="64092"/>
                </a:cubicBezTo>
                <a:cubicBezTo>
                  <a:pt x="-612" y="79807"/>
                  <a:pt x="619" y="86239"/>
                  <a:pt x="3695" y="94292"/>
                </a:cubicBezTo>
                <a:cubicBezTo>
                  <a:pt x="6771" y="102345"/>
                  <a:pt x="16278" y="109392"/>
                  <a:pt x="18795" y="112412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Generalist: Can do hierarchical or graph / workflow</a:t>
            </a:r>
            <a:endParaRPr/>
          </a:p>
        </p:txBody>
      </p:sp>
      <p:sp>
        <p:nvSpPr>
          <p:cNvPr id="263" name="Google Shape;263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41"/>
          <p:cNvPicPr preferRelativeResize="0"/>
          <p:nvPr/>
        </p:nvPicPr>
        <p:blipFill rotWithShape="1">
          <a:blip r:embed="rId3">
            <a:alphaModFix/>
          </a:blip>
          <a:srcRect b="7616" l="18995" r="24047" t="26154"/>
          <a:stretch/>
        </p:blipFill>
        <p:spPr>
          <a:xfrm>
            <a:off x="5880675" y="1786921"/>
            <a:ext cx="3171050" cy="207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750" y="1394847"/>
            <a:ext cx="5693298" cy="293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Event Based</a:t>
            </a:r>
            <a:endParaRPr/>
          </a:p>
        </p:txBody>
      </p:sp>
      <p:sp>
        <p:nvSpPr>
          <p:cNvPr id="271" name="Google Shape;271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Easy to </a:t>
            </a:r>
            <a:r>
              <a:rPr b="1" lang="en-GB"/>
              <a:t>handle signal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Control flow based e.g. transferring to other agents, guardrail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Easy to </a:t>
            </a:r>
            <a:r>
              <a:rPr b="1" lang="en-GB"/>
              <a:t>debug, audit</a:t>
            </a:r>
            <a:r>
              <a:rPr lang="en-GB"/>
              <a:t>, and easy to understand agent’s behavior</a:t>
            </a:r>
            <a:endParaRPr/>
          </a:p>
        </p:txBody>
      </p:sp>
      <p:sp>
        <p:nvSpPr>
          <p:cNvPr id="272" name="Google Shape;272;p42"/>
          <p:cNvSpPr txBox="1"/>
          <p:nvPr/>
        </p:nvSpPr>
        <p:spPr>
          <a:xfrm>
            <a:off x="209725" y="2571750"/>
            <a:ext cx="90516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1" lang="en-GB" sz="2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-GB" sz="2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b="1" lang="en-GB" sz="2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en-GB" sz="2000">
                <a:solidFill>
                  <a:srgbClr val="EE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b="1" lang="en-GB" sz="2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&gt;&gt;&gt; User Query: </a:t>
            </a:r>
            <a:r>
              <a:rPr b="1" lang="en-GB" sz="2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b="1" lang="en-GB" sz="2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query</a:t>
            </a:r>
            <a:r>
              <a:rPr b="1" lang="en-GB" sz="2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b="1" lang="en-GB" sz="2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en-GB" sz="2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2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b="1" lang="en-GB" sz="2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GB" sz="2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1" lang="en-GB" sz="2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GB" sz="2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event</a:t>
            </a:r>
            <a:r>
              <a:rPr b="1" lang="en-GB" sz="2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GB" sz="2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1" lang="en-GB" sz="2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runner.run_async(...):</a:t>
            </a:r>
            <a:endParaRPr b="1" sz="2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-GB" sz="2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-GB" sz="2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GB" sz="2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event</a:t>
            </a:r>
            <a:r>
              <a:rPr b="1" lang="en-GB" sz="2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.is_final_response():</a:t>
            </a:r>
            <a:endParaRPr b="1" sz="2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-GB" sz="2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1" lang="en-GB" sz="2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reak</a:t>
            </a:r>
            <a:endParaRPr b="1" sz="2000">
              <a:solidFill>
                <a:srgbClr val="AF00D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1" lang="en-GB" sz="2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-GB" sz="2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b="1" lang="en-GB" sz="2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"&lt;&lt;&lt; Agent Response: </a:t>
            </a:r>
            <a:r>
              <a:rPr b="1" lang="en-GB" sz="2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b="1" lang="en-GB" sz="2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final_response_text</a:t>
            </a:r>
            <a:r>
              <a:rPr b="1" lang="en-GB" sz="2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b="1" lang="en-GB" sz="2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en-GB" sz="2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2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0850" y="1021075"/>
            <a:ext cx="5623148" cy="3679201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Vendor-Centric</a:t>
            </a:r>
            <a:endParaRPr/>
          </a:p>
        </p:txBody>
      </p:sp>
      <p:sp>
        <p:nvSpPr>
          <p:cNvPr id="279" name="Google Shape;279;p43"/>
          <p:cNvSpPr txBox="1"/>
          <p:nvPr>
            <p:ph idx="1" type="body"/>
          </p:nvPr>
        </p:nvSpPr>
        <p:spPr>
          <a:xfrm>
            <a:off x="311700" y="1152475"/>
            <a:ext cx="5017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Easier to “</a:t>
            </a:r>
            <a:r>
              <a:rPr b="1" lang="en-GB"/>
              <a:t>production phase</a:t>
            </a:r>
            <a:r>
              <a:rPr lang="en-GB"/>
              <a:t>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Enterprise-grade features e.g. auditability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Easier to use vendor’s services e.g. Google Search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Worth to check: Microsoft’s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Agent Framework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Semantic Kernel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4"/>
          <p:cNvSpPr txBox="1"/>
          <p:nvPr>
            <p:ph type="title"/>
          </p:nvPr>
        </p:nvSpPr>
        <p:spPr>
          <a:xfrm>
            <a:off x="236200" y="134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Design Philosophy Comparison</a:t>
            </a:r>
            <a:endParaRPr/>
          </a:p>
        </p:txBody>
      </p:sp>
      <p:graphicFrame>
        <p:nvGraphicFramePr>
          <p:cNvPr id="285" name="Google Shape;285;p44"/>
          <p:cNvGraphicFramePr/>
          <p:nvPr/>
        </p:nvGraphicFramePr>
        <p:xfrm>
          <a:off x="430838" y="926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{59DB00ED-0417-44A7-BF66-2D041AB58E33}</a:tableStyleId>
              </a:tblPr>
              <a:tblGrid>
                <a:gridCol w="1809500"/>
                <a:gridCol w="6198550"/>
              </a:tblGrid>
              <a:tr h="432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solidFill>
                            <a:srgbClr val="1F1F1F"/>
                          </a:solidFill>
                        </a:rPr>
                        <a:t>Framework</a:t>
                      </a:r>
                      <a:endParaRPr b="1" sz="17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solidFill>
                            <a:srgbClr val="1F1F1F"/>
                          </a:solidFill>
                        </a:rPr>
                        <a:t>Philosophy</a:t>
                      </a:r>
                      <a:endParaRPr b="1" sz="17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928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solidFill>
                            <a:srgbClr val="1F1F1F"/>
                          </a:solidFill>
                        </a:rPr>
                        <a:t>CrewAI</a:t>
                      </a:r>
                      <a:endParaRPr b="1" sz="17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solidFill>
                            <a:srgbClr val="1F1F1F"/>
                          </a:solidFill>
                          <a:highlight>
                            <a:srgbClr val="FFFF00"/>
                          </a:highlight>
                        </a:rPr>
                        <a:t>Simple abstraction or roles</a:t>
                      </a:r>
                      <a:r>
                        <a:rPr lang="en-GB" sz="1700">
                          <a:solidFill>
                            <a:srgbClr val="1F1F1F"/>
                          </a:solidFill>
                        </a:rPr>
                        <a:t>. Dynamic collaboration, creative problem solving across agents.</a:t>
                      </a:r>
                      <a:endParaRPr sz="17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8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solidFill>
                            <a:srgbClr val="1F1F1F"/>
                          </a:solidFill>
                        </a:rPr>
                        <a:t>LangGraph</a:t>
                      </a:r>
                      <a:endParaRPr b="1" sz="17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solidFill>
                            <a:srgbClr val="1F1F1F"/>
                          </a:solidFill>
                          <a:highlight>
                            <a:srgbClr val="FFFF00"/>
                          </a:highlight>
                        </a:rPr>
                        <a:t>Low level control for deterministic graph task</a:t>
                      </a:r>
                      <a:r>
                        <a:rPr lang="en-GB" sz="1700">
                          <a:solidFill>
                            <a:srgbClr val="1F1F1F"/>
                          </a:solidFill>
                        </a:rPr>
                        <a:t>. Control of reliability, HITL. Mature LangChain ecosystem.</a:t>
                      </a:r>
                      <a:endParaRPr sz="17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6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solidFill>
                            <a:srgbClr val="1F1F1F"/>
                          </a:solidFill>
                        </a:rPr>
                        <a:t>n8n</a:t>
                      </a:r>
                      <a:endParaRPr b="1" sz="17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solidFill>
                            <a:srgbClr val="1F1F1F"/>
                          </a:solidFill>
                          <a:highlight>
                            <a:srgbClr val="FFFF00"/>
                          </a:highlight>
                        </a:rPr>
                        <a:t>Drag &amp; drop = s</a:t>
                      </a:r>
                      <a:r>
                        <a:rPr b="1" lang="en-GB" sz="1700">
                          <a:solidFill>
                            <a:srgbClr val="1F1F1F"/>
                          </a:solidFill>
                          <a:highlight>
                            <a:srgbClr val="FFFF00"/>
                          </a:highlight>
                        </a:rPr>
                        <a:t>peed of development</a:t>
                      </a:r>
                      <a:r>
                        <a:rPr lang="en-GB" sz="1700">
                          <a:solidFill>
                            <a:srgbClr val="1F1F1F"/>
                          </a:solidFill>
                        </a:rPr>
                        <a:t>, easy to understand as it is visual</a:t>
                      </a:r>
                      <a:endParaRPr sz="17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3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solidFill>
                            <a:srgbClr val="1F1F1F"/>
                          </a:solidFill>
                        </a:rPr>
                        <a:t>Google ADK</a:t>
                      </a:r>
                      <a:endParaRPr b="1" sz="17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solidFill>
                            <a:srgbClr val="1F1F1F"/>
                          </a:solidFill>
                          <a:highlight>
                            <a:srgbClr val="FFFF00"/>
                          </a:highlight>
                        </a:rPr>
                        <a:t>Event based  &amp; productionization</a:t>
                      </a:r>
                      <a:r>
                        <a:rPr lang="en-GB" sz="1700">
                          <a:solidFill>
                            <a:srgbClr val="1F1F1F"/>
                          </a:solidFill>
                        </a:rPr>
                        <a:t>. Seamless to use Search and GCP.</a:t>
                      </a:r>
                      <a:endParaRPr sz="17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Actually… </a:t>
            </a:r>
            <a:r>
              <a:rPr b="1" lang="en-GB" sz="2200"/>
              <a:t>All of them able to do graph. </a:t>
            </a:r>
            <a:endParaRPr b="1"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BUT </a:t>
            </a:r>
            <a:r>
              <a:rPr b="1" lang="en-GB" sz="2200"/>
              <a:t>not all of them can do collaborative</a:t>
            </a:r>
            <a:r>
              <a:rPr lang="en-GB" sz="2200"/>
              <a:t> agents easily</a:t>
            </a:r>
            <a:r>
              <a:rPr b="1" lang="en-GB" sz="2200"/>
              <a:t>.</a:t>
            </a:r>
            <a:endParaRPr b="1" sz="22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LangGraph and n8n stick to the graph.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ADK has delegation, but it is hierarchical, not democratic, but OK partially collaborative</a:t>
            </a:r>
            <a:endParaRPr sz="18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-GB" sz="2200"/>
              <a:t>Different problem </a:t>
            </a:r>
            <a:r>
              <a:rPr lang="en-GB" sz="2200"/>
              <a:t>requires different mode.</a:t>
            </a:r>
            <a:endParaRPr sz="22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Creative, problem solving: collaborative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Deterministic steps: grap</a:t>
            </a:r>
            <a:r>
              <a:rPr lang="en-GB" sz="1800"/>
              <a:t>h</a:t>
            </a:r>
            <a:endParaRPr sz="1800"/>
          </a:p>
        </p:txBody>
      </p:sp>
      <p:sp>
        <p:nvSpPr>
          <p:cNvPr id="291" name="Google Shape;291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Several Takes from Design Philosophy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Component and Features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Components and Features</a:t>
            </a:r>
            <a:endParaRPr/>
          </a:p>
        </p:txBody>
      </p:sp>
      <p:sp>
        <p:nvSpPr>
          <p:cNvPr id="302" name="Google Shape;302;p47"/>
          <p:cNvSpPr txBox="1"/>
          <p:nvPr>
            <p:ph idx="1" type="body"/>
          </p:nvPr>
        </p:nvSpPr>
        <p:spPr>
          <a:xfrm>
            <a:off x="311700" y="1152475"/>
            <a:ext cx="6467100" cy="32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-GB" sz="2100"/>
              <a:t>Agent. Consist of instruction / prompt.</a:t>
            </a:r>
            <a:endParaRPr sz="2100"/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b="1" lang="en-GB" sz="2100"/>
              <a:t>Memory</a:t>
            </a:r>
            <a:r>
              <a:rPr lang="en-GB" sz="2100"/>
              <a:t>. To have a constructive conversation.</a:t>
            </a:r>
            <a:endParaRPr sz="2100"/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b="1" lang="en-GB" sz="2100"/>
              <a:t>Knowledge</a:t>
            </a:r>
            <a:r>
              <a:rPr lang="en-GB" sz="2100"/>
              <a:t>. Information for grounding (RAG).</a:t>
            </a:r>
            <a:endParaRPr sz="2100"/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b="1" lang="en-GB" sz="2100"/>
              <a:t>Tools</a:t>
            </a:r>
            <a:r>
              <a:rPr lang="en-GB" sz="2100"/>
              <a:t>. Means for agent to do actions.</a:t>
            </a:r>
            <a:endParaRPr sz="21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Memory</a:t>
            </a:r>
            <a:endParaRPr/>
          </a:p>
        </p:txBody>
      </p:sp>
      <p:sp>
        <p:nvSpPr>
          <p:cNvPr id="308" name="Google Shape;308;p48"/>
          <p:cNvSpPr txBox="1"/>
          <p:nvPr>
            <p:ph idx="1" type="body"/>
          </p:nvPr>
        </p:nvSpPr>
        <p:spPr>
          <a:xfrm>
            <a:off x="311700" y="1152475"/>
            <a:ext cx="2473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Remember past interactions and use it as part of context to deliver high quality result.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Two components: short term, long term memory.</a:t>
            </a:r>
            <a:endParaRPr/>
          </a:p>
        </p:txBody>
      </p:sp>
      <p:pic>
        <p:nvPicPr>
          <p:cNvPr id="309" name="Google Shape;30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2302" y="397425"/>
            <a:ext cx="6402951" cy="4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Memory Comparison</a:t>
            </a:r>
            <a:endParaRPr/>
          </a:p>
        </p:txBody>
      </p:sp>
      <p:graphicFrame>
        <p:nvGraphicFramePr>
          <p:cNvPr id="315" name="Google Shape;315;p49"/>
          <p:cNvGraphicFramePr/>
          <p:nvPr/>
        </p:nvGraphicFramePr>
        <p:xfrm>
          <a:off x="311700" y="1168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{97FBD8ED-221D-4B45-9652-06485656276D}</a:tableStyleId>
              </a:tblPr>
              <a:tblGrid>
                <a:gridCol w="1399750"/>
                <a:gridCol w="5116100"/>
                <a:gridCol w="18352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/>
                        <a:t>Memory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/>
                        <a:t>Characteristic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/>
                        <a:t>Comparison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CrewAI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/>
                        <a:t>"Set-it-and-forget-it"</a:t>
                      </a:r>
                      <a:r>
                        <a:rPr lang="en-GB" sz="1800"/>
                        <a:t>. Not clear how to</a:t>
                      </a:r>
                      <a:r>
                        <a:rPr lang="en-GB" sz="1800"/>
                        <a:t> customize</a:t>
                      </a:r>
                      <a:r>
                        <a:rPr lang="en-GB" sz="1800"/>
                        <a:t>.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Easy, not flexible</a:t>
                      </a:r>
                      <a:endParaRPr sz="1800"/>
                    </a:p>
                  </a:txBody>
                  <a:tcPr marT="91425" marB="91425" marR="91425" marL="91425">
                    <a:solidFill>
                      <a:srgbClr val="91CF6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LangGraph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/>
                        <a:t>Flexible</a:t>
                      </a:r>
                      <a:r>
                        <a:rPr lang="en-GB" sz="1800"/>
                        <a:t> and r</a:t>
                      </a:r>
                      <a:r>
                        <a:rPr lang="en-GB" sz="1800"/>
                        <a:t>ich of method</a:t>
                      </a:r>
                      <a:r>
                        <a:rPr lang="en-GB" sz="1800"/>
                        <a:t>, coding based.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Not easy, flexible</a:t>
                      </a:r>
                      <a:endParaRPr sz="1800"/>
                    </a:p>
                  </a:txBody>
                  <a:tcPr marT="91425" marB="91425" marR="91425" marL="91425">
                    <a:solidFill>
                      <a:srgbClr val="91CF6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n8n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/>
                        <a:t>Plug and play </a:t>
                      </a:r>
                      <a:r>
                        <a:rPr lang="en-GB" sz="1800"/>
                        <a:t>but</a:t>
                      </a:r>
                      <a:r>
                        <a:rPr b="1" lang="en-GB" sz="1800"/>
                        <a:t> limited</a:t>
                      </a:r>
                      <a:r>
                        <a:rPr b="1" lang="en-GB" sz="1800"/>
                        <a:t> features</a:t>
                      </a:r>
                      <a:r>
                        <a:rPr lang="en-GB" sz="1800"/>
                        <a:t>.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</a:rPr>
                        <a:t>Easy, not flexible</a:t>
                      </a:r>
                      <a:endParaRPr sz="1800"/>
                    </a:p>
                  </a:txBody>
                  <a:tcPr marT="91425" marB="91425" marR="91425" marL="91425">
                    <a:solidFill>
                      <a:srgbClr val="91CF6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ADK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/>
                        <a:t>S</a:t>
                      </a:r>
                      <a:r>
                        <a:rPr b="1" lang="en-GB" sz="1800"/>
                        <a:t>tructured</a:t>
                      </a:r>
                      <a:r>
                        <a:rPr lang="en-GB" sz="1800"/>
                        <a:t> and production-ready, precisely schedule summarization with </a:t>
                      </a:r>
                      <a:r>
                        <a:rPr b="1" lang="en-GB" sz="1800"/>
                        <a:t>parameters</a:t>
                      </a:r>
                      <a:r>
                        <a:rPr lang="en-GB" sz="1800"/>
                        <a:t> e.g. overlap size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Medium, flexible</a:t>
                      </a:r>
                      <a:endParaRPr sz="1800"/>
                    </a:p>
                  </a:txBody>
                  <a:tcPr marT="91425" marB="91425" marR="91425" marL="91425">
                    <a:solidFill>
                      <a:srgbClr val="1A98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RAG (Retrieval Augmented Generation)</a:t>
            </a:r>
            <a:endParaRPr/>
          </a:p>
        </p:txBody>
      </p:sp>
      <p:pic>
        <p:nvPicPr>
          <p:cNvPr id="321" name="Google Shape;32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3756" y="1462422"/>
            <a:ext cx="1271638" cy="474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7887" y="1904138"/>
            <a:ext cx="410329" cy="410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20643" y="1936979"/>
            <a:ext cx="1089795" cy="344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34168" y="2373472"/>
            <a:ext cx="997092" cy="30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50"/>
          <p:cNvSpPr/>
          <p:nvPr/>
        </p:nvSpPr>
        <p:spPr>
          <a:xfrm>
            <a:off x="4946550" y="1808500"/>
            <a:ext cx="352200" cy="38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D966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50"/>
          <p:cNvSpPr txBox="1"/>
          <p:nvPr/>
        </p:nvSpPr>
        <p:spPr>
          <a:xfrm>
            <a:off x="4263850" y="1799050"/>
            <a:ext cx="70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595959"/>
                </a:solidFill>
                <a:latin typeface="Google Sans"/>
                <a:ea typeface="Google Sans"/>
                <a:cs typeface="Google Sans"/>
                <a:sym typeface="Google Sans"/>
              </a:rPr>
              <a:t>Input</a:t>
            </a:r>
            <a:endParaRPr b="1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7" name="Google Shape;327;p50"/>
          <p:cNvSpPr/>
          <p:nvPr/>
        </p:nvSpPr>
        <p:spPr>
          <a:xfrm>
            <a:off x="7324300" y="1808500"/>
            <a:ext cx="352200" cy="38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D966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50"/>
          <p:cNvSpPr txBox="1"/>
          <p:nvPr/>
        </p:nvSpPr>
        <p:spPr>
          <a:xfrm>
            <a:off x="7731525" y="1799050"/>
            <a:ext cx="99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595959"/>
                </a:solidFill>
                <a:latin typeface="Google Sans"/>
                <a:ea typeface="Google Sans"/>
                <a:cs typeface="Google Sans"/>
                <a:sym typeface="Google Sans"/>
              </a:rPr>
              <a:t>Output</a:t>
            </a:r>
            <a:endParaRPr b="1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9" name="Google Shape;329;p50"/>
          <p:cNvSpPr/>
          <p:nvPr/>
        </p:nvSpPr>
        <p:spPr>
          <a:xfrm>
            <a:off x="6271825" y="2693975"/>
            <a:ext cx="410400" cy="611700"/>
          </a:xfrm>
          <a:prstGeom prst="upDownArrow">
            <a:avLst>
              <a:gd fmla="val 50000" name="adj1"/>
              <a:gd fmla="val 50000" name="adj2"/>
            </a:avLst>
          </a:prstGeom>
          <a:solidFill>
            <a:srgbClr val="FFD966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50"/>
          <p:cNvSpPr/>
          <p:nvPr/>
        </p:nvSpPr>
        <p:spPr>
          <a:xfrm>
            <a:off x="6194363" y="3453850"/>
            <a:ext cx="565325" cy="611700"/>
          </a:xfrm>
          <a:prstGeom prst="flowChartMagneticDisk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db</a:t>
            </a:r>
            <a:endParaRPr/>
          </a:p>
        </p:txBody>
      </p:sp>
      <p:sp>
        <p:nvSpPr>
          <p:cNvPr id="331" name="Google Shape;331;p50"/>
          <p:cNvSpPr txBox="1"/>
          <p:nvPr>
            <p:ph idx="1" type="body"/>
          </p:nvPr>
        </p:nvSpPr>
        <p:spPr>
          <a:xfrm>
            <a:off x="311700" y="1152475"/>
            <a:ext cx="387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Uses knowledge to ground the LLM.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Commonly uses: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Embedding to convert text into vector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Vector database to semantically search knowledge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RAG Comparison</a:t>
            </a:r>
            <a:endParaRPr/>
          </a:p>
        </p:txBody>
      </p:sp>
      <p:graphicFrame>
        <p:nvGraphicFramePr>
          <p:cNvPr id="337" name="Google Shape;337;p51"/>
          <p:cNvGraphicFramePr/>
          <p:nvPr/>
        </p:nvGraphicFramePr>
        <p:xfrm>
          <a:off x="331575" y="1193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{97FBD8ED-221D-4B45-9652-06485656276D}</a:tableStyleId>
              </a:tblPr>
              <a:tblGrid>
                <a:gridCol w="1421500"/>
                <a:gridCol w="5195550"/>
                <a:gridCol w="1863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/>
                        <a:t>Framework</a:t>
                      </a:r>
                      <a:endParaRPr b="1" sz="1700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/>
                        <a:t>RAG </a:t>
                      </a:r>
                      <a:r>
                        <a:rPr b="1" lang="en-GB" sz="1700"/>
                        <a:t>Characteristic</a:t>
                      </a:r>
                      <a:endParaRPr b="1" sz="1700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/>
                        <a:t>Comparison</a:t>
                      </a:r>
                      <a:endParaRPr b="1" sz="1700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/>
                        <a:t>CrewAI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/>
                        <a:t>Abstracted in </a:t>
                      </a:r>
                      <a:r>
                        <a:rPr b="1" lang="en-GB" sz="1700"/>
                        <a:t>Knowledge</a:t>
                      </a:r>
                      <a:r>
                        <a:rPr lang="en-GB" sz="1700"/>
                        <a:t> concept (using ChromaDB). Chunking and </a:t>
                      </a:r>
                      <a:r>
                        <a:rPr lang="en-GB" sz="1700"/>
                        <a:t>overlap as config.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/>
                        <a:t>Easy, quite flexible</a:t>
                      </a:r>
                      <a:endParaRPr sz="1700"/>
                    </a:p>
                  </a:txBody>
                  <a:tcPr marT="91425" marB="91425" marR="91425" marL="91425">
                    <a:solidFill>
                      <a:srgbClr val="91CF6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/>
                        <a:t>LangGraph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/>
                        <a:t>Flexible</a:t>
                      </a:r>
                      <a:r>
                        <a:rPr lang="en-GB" sz="1700"/>
                        <a:t> and rich of method, </a:t>
                      </a:r>
                      <a:r>
                        <a:rPr b="1" lang="en-GB" sz="1700"/>
                        <a:t>yet</a:t>
                      </a:r>
                      <a:r>
                        <a:rPr lang="en-GB" sz="1700"/>
                        <a:t> requires </a:t>
                      </a:r>
                      <a:r>
                        <a:rPr b="1" lang="en-GB" sz="1700"/>
                        <a:t>the most manual</a:t>
                      </a:r>
                      <a:r>
                        <a:rPr lang="en-GB" sz="1700"/>
                        <a:t> setup, coding based.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/>
                        <a:t>Not easy, super flexible</a:t>
                      </a:r>
                      <a:endParaRPr sz="1700"/>
                    </a:p>
                  </a:txBody>
                  <a:tcPr marT="91425" marB="91425" marR="91425" marL="91425">
                    <a:solidFill>
                      <a:srgbClr val="FEE09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/>
                        <a:t>n8n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/>
                        <a:t>Plug and play</a:t>
                      </a:r>
                      <a:r>
                        <a:rPr lang="en-GB" sz="1700"/>
                        <a:t> with </a:t>
                      </a:r>
                      <a:r>
                        <a:rPr lang="en-GB" sz="1700"/>
                        <a:t>vector</a:t>
                      </a:r>
                      <a:r>
                        <a:rPr lang="en-GB" sz="1700"/>
                        <a:t> store. Rich of features such as rerank.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chemeClr val="dk1"/>
                          </a:solidFill>
                        </a:rPr>
                        <a:t>Easy, flexible</a:t>
                      </a:r>
                      <a:endParaRPr sz="1700"/>
                    </a:p>
                  </a:txBody>
                  <a:tcPr marT="91425" marB="91425" marR="91425" marL="91425">
                    <a:solidFill>
                      <a:srgbClr val="1A985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/>
                        <a:t>ADK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/>
                        <a:t>Easy to productionize</a:t>
                      </a:r>
                      <a:r>
                        <a:rPr lang="en-GB" sz="1700"/>
                        <a:t> with Vertex AI vector db. Integrate to Agent with Built-in tools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/>
                        <a:t>Easy, flexible</a:t>
                      </a:r>
                      <a:endParaRPr sz="1700"/>
                    </a:p>
                  </a:txBody>
                  <a:tcPr marT="91425" marB="91425" marR="91425" marL="91425">
                    <a:solidFill>
                      <a:srgbClr val="1A98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Tools</a:t>
            </a:r>
            <a:endParaRPr/>
          </a:p>
        </p:txBody>
      </p:sp>
      <p:sp>
        <p:nvSpPr>
          <p:cNvPr id="343" name="Google Shape;343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Tools is list of tools AI can pick and use.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Imagine: Bug Assistant AI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Read bug issue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Search how to solve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Fix and submit PR</a:t>
            </a:r>
            <a:endParaRPr/>
          </a:p>
        </p:txBody>
      </p:sp>
      <p:pic>
        <p:nvPicPr>
          <p:cNvPr id="344" name="Google Shape;344;p52"/>
          <p:cNvPicPr preferRelativeResize="0"/>
          <p:nvPr/>
        </p:nvPicPr>
        <p:blipFill rotWithShape="1">
          <a:blip r:embed="rId3">
            <a:alphaModFix/>
          </a:blip>
          <a:srcRect b="0" l="36559" r="40845" t="61542"/>
          <a:stretch/>
        </p:blipFill>
        <p:spPr>
          <a:xfrm>
            <a:off x="5302750" y="625075"/>
            <a:ext cx="2959451" cy="3372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3"/>
          <p:cNvSpPr txBox="1"/>
          <p:nvPr>
            <p:ph type="title"/>
          </p:nvPr>
        </p:nvSpPr>
        <p:spPr>
          <a:xfrm>
            <a:off x="311700" y="231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Tools Comparison</a:t>
            </a:r>
            <a:endParaRPr/>
          </a:p>
        </p:txBody>
      </p:sp>
      <p:graphicFrame>
        <p:nvGraphicFramePr>
          <p:cNvPr id="350" name="Google Shape;350;p53"/>
          <p:cNvGraphicFramePr/>
          <p:nvPr/>
        </p:nvGraphicFramePr>
        <p:xfrm>
          <a:off x="311700" y="80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{97FBD8ED-221D-4B45-9652-06485656276D}</a:tableStyleId>
              </a:tblPr>
              <a:tblGrid>
                <a:gridCol w="1427850"/>
                <a:gridCol w="4959900"/>
                <a:gridCol w="1799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/>
                        <a:t>Framework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/>
                        <a:t>Ready to use Tools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/>
                        <a:t>Comparison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178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CrewAI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CrewAI tools (30+) and LangChain Tools</a:t>
                      </a:r>
                      <a:endParaRPr sz="18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sng">
                          <a:solidFill>
                            <a:schemeClr val="hlink"/>
                          </a:solidFill>
                          <a:hlinkClick r:id="rId3"/>
                        </a:rPr>
                        <a:t>https://docs.crewai.com/en/concepts/tools</a:t>
                      </a:r>
                      <a:r>
                        <a:rPr lang="en-GB" sz="1800"/>
                        <a:t> 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Super rich.</a:t>
                      </a:r>
                      <a:endParaRPr sz="1800"/>
                    </a:p>
                  </a:txBody>
                  <a:tcPr marT="91425" marB="91425" marR="91425" marL="91425">
                    <a:solidFill>
                      <a:srgbClr val="1A985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LangGraph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LangChain Tools (1000+)</a:t>
                      </a:r>
                      <a:endParaRPr sz="18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sng">
                          <a:solidFill>
                            <a:schemeClr val="hlink"/>
                          </a:solidFill>
                          <a:hlinkClick r:id="rId4"/>
                        </a:rPr>
                        <a:t>https://docs.langchain.com/oss/python/integrations/tools</a:t>
                      </a:r>
                      <a:r>
                        <a:rPr lang="en-GB" sz="1800"/>
                        <a:t> 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Super rich.</a:t>
                      </a:r>
                      <a:endParaRPr sz="1800"/>
                    </a:p>
                  </a:txBody>
                  <a:tcPr marT="91425" marB="91425" marR="91425" marL="91425">
                    <a:solidFill>
                      <a:srgbClr val="1A985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n8n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n</a:t>
                      </a:r>
                      <a:r>
                        <a:rPr lang="en-GB" sz="1800"/>
                        <a:t>8n integrations (1000+)</a:t>
                      </a:r>
                      <a:endParaRPr sz="18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sng">
                          <a:solidFill>
                            <a:schemeClr val="hlink"/>
                          </a:solidFill>
                          <a:hlinkClick r:id="rId5"/>
                        </a:rPr>
                        <a:t>https://n8n.io/integrations/</a:t>
                      </a:r>
                      <a:r>
                        <a:rPr lang="en-GB" sz="1800"/>
                        <a:t> 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</a:rPr>
                        <a:t>Super rich</a:t>
                      </a:r>
                      <a:endParaRPr sz="1800"/>
                    </a:p>
                  </a:txBody>
                  <a:tcPr marT="91425" marB="91425" marR="91425" marL="91425">
                    <a:solidFill>
                      <a:srgbClr val="1A985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ADK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~20 tools. Plus: </a:t>
                      </a:r>
                      <a:r>
                        <a:rPr lang="en-GB" sz="1800"/>
                        <a:t>Google Search, GCP Tools</a:t>
                      </a:r>
                      <a:endParaRPr sz="18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sng">
                          <a:solidFill>
                            <a:schemeClr val="hlink"/>
                          </a:solidFill>
                          <a:hlinkClick r:id="rId6"/>
                        </a:rPr>
                        <a:t>https://google.github.io/adk-docs/tools/third-party/</a:t>
                      </a:r>
                      <a:r>
                        <a:rPr lang="en-GB" sz="1800"/>
                        <a:t> 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Limited</a:t>
                      </a:r>
                      <a:endParaRPr sz="1800"/>
                    </a:p>
                  </a:txBody>
                  <a:tcPr marT="91425" marB="91425" marR="91425" marL="91425">
                    <a:solidFill>
                      <a:srgbClr val="FC8D5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Several Takes from Component &amp; Features</a:t>
            </a:r>
            <a:endParaRPr/>
          </a:p>
        </p:txBody>
      </p:sp>
      <p:sp>
        <p:nvSpPr>
          <p:cNvPr id="356" name="Google Shape;356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GB" sz="2000">
                <a:highlight>
                  <a:srgbClr val="FFFF00"/>
                </a:highlight>
              </a:rPr>
              <a:t>All frameworks covered similar features.</a:t>
            </a:r>
            <a:endParaRPr b="1" sz="2000">
              <a:highlight>
                <a:srgbClr val="FFFF00"/>
              </a:highlight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Ease of use: </a:t>
            </a:r>
            <a:r>
              <a:rPr lang="en-GB" sz="2000"/>
              <a:t>CrewAI and n8n take </a:t>
            </a:r>
            <a:r>
              <a:rPr b="1" lang="en-GB" sz="2000"/>
              <a:t>easy-to-use</a:t>
            </a:r>
            <a:r>
              <a:rPr lang="en-GB" sz="2000"/>
              <a:t> approach with </a:t>
            </a:r>
            <a:r>
              <a:rPr b="1" lang="en-GB" sz="2000"/>
              <a:t>limited flexibility</a:t>
            </a:r>
            <a:r>
              <a:rPr lang="en-GB" sz="2000"/>
              <a:t>, a lot of detail is wrapped inside.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Code-centric: LangGraph and ADK, more effort which comes with </a:t>
            </a:r>
            <a:r>
              <a:rPr b="1" lang="en-GB" sz="2000"/>
              <a:t>more flexibility</a:t>
            </a:r>
            <a:r>
              <a:rPr lang="en-GB" sz="2000"/>
              <a:t>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GB" sz="2000"/>
              <a:t>LangChain tools (code) and n8n integrations (no code)</a:t>
            </a:r>
            <a:r>
              <a:rPr lang="en-GB" sz="2000"/>
              <a:t> seems unbeatable in each area with 1000+ integrations, </a:t>
            </a:r>
            <a:r>
              <a:rPr b="1" lang="en-GB" sz="2000"/>
              <a:t>relies on community</a:t>
            </a:r>
            <a:endParaRPr sz="20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Scalability and Observability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6"/>
          <p:cNvSpPr txBox="1"/>
          <p:nvPr>
            <p:ph type="title"/>
          </p:nvPr>
        </p:nvSpPr>
        <p:spPr>
          <a:xfrm>
            <a:off x="231050" y="344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Scalable Deployment</a:t>
            </a:r>
            <a:endParaRPr/>
          </a:p>
        </p:txBody>
      </p:sp>
      <p:graphicFrame>
        <p:nvGraphicFramePr>
          <p:cNvPr id="367" name="Google Shape;367;p56"/>
          <p:cNvGraphicFramePr/>
          <p:nvPr/>
        </p:nvGraphicFramePr>
        <p:xfrm>
          <a:off x="23105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{97FBD8ED-221D-4B45-9652-06485656276D}</a:tableStyleId>
              </a:tblPr>
              <a:tblGrid>
                <a:gridCol w="1307875"/>
                <a:gridCol w="5773600"/>
                <a:gridCol w="15752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/>
                        <a:t>Framework</a:t>
                      </a:r>
                      <a:endParaRPr b="1" sz="1600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/>
                        <a:t>Deployment Option</a:t>
                      </a:r>
                      <a:endParaRPr b="1" sz="1600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/>
                        <a:t>Scalability</a:t>
                      </a:r>
                      <a:endParaRPr b="1" sz="1600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CrewAI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/>
                        <a:t>Paid</a:t>
                      </a:r>
                      <a:r>
                        <a:rPr lang="en-GB" sz="1600"/>
                        <a:t>: CrewAI Agent Operation Platform (Enterprise)</a:t>
                      </a:r>
                      <a:endParaRPr sz="16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/>
                        <a:t>Free</a:t>
                      </a:r>
                      <a:r>
                        <a:rPr lang="en-GB" sz="1600"/>
                        <a:t>: Unclear, but there’s community blog (</a:t>
                      </a:r>
                      <a:r>
                        <a:rPr lang="en-GB" sz="1600" u="sng">
                          <a:solidFill>
                            <a:schemeClr val="hlink"/>
                          </a:solidFill>
                          <a:hlinkClick r:id="rId3"/>
                        </a:rPr>
                        <a:t>ref</a:t>
                      </a:r>
                      <a:r>
                        <a:rPr lang="en-GB" sz="1600"/>
                        <a:t>).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Paid centric</a:t>
                      </a:r>
                      <a:endParaRPr sz="1600"/>
                    </a:p>
                  </a:txBody>
                  <a:tcPr marT="91425" marB="91425" marR="91425" marL="91425">
                    <a:solidFill>
                      <a:srgbClr val="FEE09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LangGraph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/>
                        <a:t>Paid</a:t>
                      </a:r>
                      <a:r>
                        <a:rPr lang="en-GB" sz="1600"/>
                        <a:t>: LangSmith</a:t>
                      </a:r>
                      <a:endParaRPr sz="16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/>
                        <a:t>Free</a:t>
                      </a:r>
                      <a:r>
                        <a:rPr lang="en-GB" sz="1600"/>
                        <a:t>: Unclear, but there’s community blog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Paid centric</a:t>
                      </a:r>
                      <a:endParaRPr sz="1600"/>
                    </a:p>
                  </a:txBody>
                  <a:tcPr marT="91425" marB="91425" marR="91425" marL="91425">
                    <a:solidFill>
                      <a:srgbClr val="FEE09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n8n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/>
                        <a:t>Paid</a:t>
                      </a:r>
                      <a:r>
                        <a:rPr lang="en-GB" sz="1600"/>
                        <a:t>: Enterprise n8n; versioning, auth SSO</a:t>
                      </a:r>
                      <a:endParaRPr sz="16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/>
                        <a:t>Free</a:t>
                      </a:r>
                      <a:r>
                        <a:rPr lang="en-GB" sz="1600"/>
                        <a:t>: Clear deployment guidance using queue pattern (</a:t>
                      </a:r>
                      <a:r>
                        <a:rPr lang="en-GB" sz="1600" u="sng">
                          <a:solidFill>
                            <a:schemeClr val="hlink"/>
                          </a:solidFill>
                          <a:hlinkClick r:id="rId4"/>
                        </a:rPr>
                        <a:t>ref</a:t>
                      </a:r>
                      <a:r>
                        <a:rPr lang="en-GB" sz="1600"/>
                        <a:t>)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Both Paid and Free</a:t>
                      </a:r>
                      <a:endParaRPr sz="1600"/>
                    </a:p>
                  </a:txBody>
                  <a:tcPr marT="91425" marB="91425" marR="91425" marL="91425">
                    <a:solidFill>
                      <a:srgbClr val="1A985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ADK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/>
                        <a:t>Paid</a:t>
                      </a:r>
                      <a:r>
                        <a:rPr lang="en-GB" sz="1600"/>
                        <a:t>: Vertex AI on GCP, Cloud Run</a:t>
                      </a:r>
                      <a:endParaRPr sz="16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/>
                        <a:t>Free</a:t>
                      </a:r>
                      <a:r>
                        <a:rPr lang="en-GB" sz="1600"/>
                        <a:t>: Docker deployment with example (</a:t>
                      </a:r>
                      <a:r>
                        <a:rPr lang="en-GB" sz="1600" u="sng">
                          <a:solidFill>
                            <a:schemeClr val="hlink"/>
                          </a:solidFill>
                          <a:hlinkClick r:id="rId5"/>
                        </a:rPr>
                        <a:t>ref</a:t>
                      </a:r>
                      <a:r>
                        <a:rPr lang="en-GB" sz="1600"/>
                        <a:t>) 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Both Paid and Free</a:t>
                      </a:r>
                      <a:endParaRPr sz="1600"/>
                    </a:p>
                  </a:txBody>
                  <a:tcPr marT="91425" marB="91425" marR="91425" marL="91425">
                    <a:solidFill>
                      <a:srgbClr val="1A98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7"/>
          <p:cNvSpPr txBox="1"/>
          <p:nvPr>
            <p:ph type="title"/>
          </p:nvPr>
        </p:nvSpPr>
        <p:spPr>
          <a:xfrm>
            <a:off x="231050" y="335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Observability</a:t>
            </a:r>
            <a:endParaRPr/>
          </a:p>
        </p:txBody>
      </p:sp>
      <p:graphicFrame>
        <p:nvGraphicFramePr>
          <p:cNvPr id="373" name="Google Shape;373;p57"/>
          <p:cNvGraphicFramePr/>
          <p:nvPr/>
        </p:nvGraphicFramePr>
        <p:xfrm>
          <a:off x="243625" y="1035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{97FBD8ED-221D-4B45-9652-06485656276D}</a:tableStyleId>
              </a:tblPr>
              <a:tblGrid>
                <a:gridCol w="1558100"/>
                <a:gridCol w="5282425"/>
                <a:gridCol w="1816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/>
                        <a:t>Framework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/>
                        <a:t>Observability for Open Source Option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/>
                        <a:t>Observability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CrewAI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Langfuse integration using OpenTelemetry via the OpenLit SDK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OK</a:t>
                      </a:r>
                      <a:endParaRPr sz="1800"/>
                    </a:p>
                  </a:txBody>
                  <a:tcPr marT="91425" marB="91425" marR="91425" marL="91425">
                    <a:solidFill>
                      <a:srgbClr val="91CF6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LangGraph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Unclear, langchain can connect with langfuse but there are issues in the community.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Unclear</a:t>
                      </a:r>
                      <a:endParaRPr sz="1800"/>
                    </a:p>
                  </a:txBody>
                  <a:tcPr marT="91425" marB="91425" marR="91425" marL="91425">
                    <a:solidFill>
                      <a:srgbClr val="FEE090"/>
                    </a:solidFill>
                  </a:tcPr>
                </a:tc>
              </a:tr>
              <a:tr h="70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n8n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Unclear how to monitor the n8n. They provide “metrics” API.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Limited</a:t>
                      </a:r>
                      <a:endParaRPr sz="1800"/>
                    </a:p>
                  </a:txBody>
                  <a:tcPr marT="91425" marB="91425" marR="91425" marL="91425">
                    <a:solidFill>
                      <a:srgbClr val="FEE09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ADK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Many options, there are 9 options. Promising one: AgentOps.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</a:rPr>
                        <a:t>Rich</a:t>
                      </a:r>
                      <a:endParaRPr sz="1800"/>
                    </a:p>
                  </a:txBody>
                  <a:tcPr marT="91425" marB="91425" marR="91425" marL="91425">
                    <a:solidFill>
                      <a:srgbClr val="1A98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Several Takes on Scalability and Observability</a:t>
            </a:r>
            <a:endParaRPr/>
          </a:p>
        </p:txBody>
      </p:sp>
      <p:graphicFrame>
        <p:nvGraphicFramePr>
          <p:cNvPr id="379" name="Google Shape;379;p58"/>
          <p:cNvGraphicFramePr/>
          <p:nvPr/>
        </p:nvGraphicFramePr>
        <p:xfrm>
          <a:off x="3938125" y="1318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{97FBD8ED-221D-4B45-9652-06485656276D}</a:tableStyleId>
              </a:tblPr>
              <a:tblGrid>
                <a:gridCol w="1370600"/>
                <a:gridCol w="1743525"/>
                <a:gridCol w="1780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/>
                        <a:t>Framework</a:t>
                      </a:r>
                      <a:endParaRPr b="1" sz="1600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/>
                        <a:t>Scalability</a:t>
                      </a:r>
                      <a:endParaRPr b="1" sz="16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/>
                        <a:t>Observability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CrewAI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Paid centric</a:t>
                      </a:r>
                      <a:endParaRPr sz="16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EE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OK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1CF6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LangGraph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Paid centric</a:t>
                      </a:r>
                      <a:endParaRPr sz="16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EE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Unclear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E09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n8n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Both Paid and Free</a:t>
                      </a:r>
                      <a:endParaRPr sz="16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1A98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Limited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E09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ADK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Both Paid and Free</a:t>
                      </a:r>
                      <a:endParaRPr sz="16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1A98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</a:rPr>
                        <a:t>Rich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9850"/>
                    </a:solidFill>
                  </a:tcPr>
                </a:tc>
              </a:tr>
            </a:tbl>
          </a:graphicData>
        </a:graphic>
      </p:graphicFrame>
      <p:sp>
        <p:nvSpPr>
          <p:cNvPr id="380" name="Google Shape;380;p58"/>
          <p:cNvSpPr txBox="1"/>
          <p:nvPr>
            <p:ph idx="1" type="body"/>
          </p:nvPr>
        </p:nvSpPr>
        <p:spPr>
          <a:xfrm>
            <a:off x="311700" y="1152475"/>
            <a:ext cx="3450900" cy="28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Scalability deployment is unexpected.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Observability is also unexpected.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n</a:t>
            </a:r>
            <a:r>
              <a:rPr lang="en-GB"/>
              <a:t>8n observability is limited; but understandable since it is a platform.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Mental Model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Compiled Comparison</a:t>
            </a:r>
            <a:endParaRPr/>
          </a:p>
        </p:txBody>
      </p:sp>
      <p:graphicFrame>
        <p:nvGraphicFramePr>
          <p:cNvPr id="391" name="Google Shape;391;p60"/>
          <p:cNvGraphicFramePr/>
          <p:nvPr/>
        </p:nvGraphicFramePr>
        <p:xfrm>
          <a:off x="245050" y="120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{59DB00ED-0417-44A7-BF66-2D041AB58E33}</a:tableStyleId>
              </a:tblPr>
              <a:tblGrid>
                <a:gridCol w="1054175"/>
                <a:gridCol w="944275"/>
                <a:gridCol w="1045025"/>
                <a:gridCol w="1054150"/>
                <a:gridCol w="1054175"/>
                <a:gridCol w="1141425"/>
                <a:gridCol w="1260500"/>
                <a:gridCol w="966900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1F1F1F"/>
                          </a:solidFill>
                        </a:rPr>
                        <a:t>Framework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1F1F1F"/>
                          </a:solidFill>
                        </a:rPr>
                        <a:t>Memory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1F1F1F"/>
                          </a:solidFill>
                        </a:rPr>
                        <a:t>RAG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1F1F1F"/>
                          </a:solidFill>
                        </a:rPr>
                        <a:t>Tools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1F1F1F"/>
                          </a:solidFill>
                        </a:rPr>
                        <a:t>Scalability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1F1F1F"/>
                          </a:solidFill>
                        </a:rPr>
                        <a:t>Observability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1F1F1F"/>
                          </a:solidFill>
                        </a:rPr>
                        <a:t>Learning Curve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1F1F1F"/>
                          </a:solidFill>
                        </a:rPr>
                        <a:t>Avg Score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500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1F1F1F"/>
                          </a:solidFill>
                        </a:rPr>
                        <a:t>CrewAI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⭐⭐⭐⭐</a:t>
                      </a:r>
                      <a:endParaRPr sz="11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Easy, not flexible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1CF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⭐⭐⭐⭐</a:t>
                      </a:r>
                      <a:endParaRPr sz="11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Easy, flexible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1CF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⭐⭐⭐⭐⭐</a:t>
                      </a:r>
                      <a:endParaRPr sz="11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Super rich.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98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⭐⭐⭐</a:t>
                      </a:r>
                      <a:endParaRPr sz="11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Paid centric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E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⭐⭐⭐⭐</a:t>
                      </a:r>
                      <a:endParaRPr sz="11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OK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1CF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⭐⭐⭐⭐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Easy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1CF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4.0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1F1F1F"/>
                          </a:solidFill>
                        </a:rPr>
                        <a:t>LangGraph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⭐⭐⭐⭐</a:t>
                      </a:r>
                      <a:endParaRPr sz="11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Not easy, flexible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1CF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⭐⭐⭐</a:t>
                      </a:r>
                      <a:endParaRPr sz="11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Not easy, super flexible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E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⭐⭐⭐⭐⭐</a:t>
                      </a:r>
                      <a:endParaRPr sz="11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Super rich.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98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⭐⭐</a:t>
                      </a:r>
                      <a:r>
                        <a:rPr lang="en-GB" sz="1100"/>
                        <a:t>⭐</a:t>
                      </a:r>
                      <a:endParaRPr sz="11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Paid centric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E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⭐⭐⭐</a:t>
                      </a:r>
                      <a:endParaRPr sz="11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Unclear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E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⭐⭐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Hard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8D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3.3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1F1F1F"/>
                          </a:solidFill>
                        </a:rPr>
                        <a:t>n8n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⭐⭐⭐⭐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Easy, not flexible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1CF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⭐⭐⭐⭐⭐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Easy, flexible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98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⭐⭐⭐⭐⭐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Super rich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98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⭐⭐⭐⭐⭐</a:t>
                      </a:r>
                      <a:r>
                        <a:rPr lang="en-GB" sz="1100"/>
                        <a:t>Paid and Free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98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⭐⭐⭐</a:t>
                      </a:r>
                      <a:endParaRPr sz="11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Limited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E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⭐⭐⭐⭐⭐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Intuitive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98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4.5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1F1F1F"/>
                          </a:solidFill>
                        </a:rPr>
                        <a:t>ADK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⭐⭐⭐⭐</a:t>
                      </a:r>
                      <a:endParaRPr sz="11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Medium, flexible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1CF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⭐⭐⭐⭐⭐</a:t>
                      </a:r>
                      <a:endParaRPr sz="11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Easy, flexible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98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⭐</a:t>
                      </a:r>
                      <a:r>
                        <a:rPr lang="en-GB" sz="1100"/>
                        <a:t>⭐</a:t>
                      </a:r>
                      <a:endParaRPr sz="11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Limited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8D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⭐⭐⭐⭐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Paid and Free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1CF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⭐⭐⭐⭐⭐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Many Options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98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⭐⭐⭐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Medium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E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3.8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Mental Model</a:t>
            </a:r>
            <a:endParaRPr/>
          </a:p>
        </p:txBody>
      </p:sp>
      <p:graphicFrame>
        <p:nvGraphicFramePr>
          <p:cNvPr id="397" name="Google Shape;397;p61"/>
          <p:cNvGraphicFramePr/>
          <p:nvPr/>
        </p:nvGraphicFramePr>
        <p:xfrm>
          <a:off x="245050" y="120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{59DB00ED-0417-44A7-BF66-2D041AB58E33}</a:tableStyleId>
              </a:tblPr>
              <a:tblGrid>
                <a:gridCol w="1534550"/>
                <a:gridCol w="6670175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solidFill>
                            <a:srgbClr val="1F1F1F"/>
                          </a:solidFill>
                        </a:rPr>
                        <a:t>Framework</a:t>
                      </a:r>
                      <a:endParaRPr b="1" sz="17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solidFill>
                            <a:srgbClr val="1F1F1F"/>
                          </a:solidFill>
                        </a:rPr>
                        <a:t>Mental Model / Sweet Spot</a:t>
                      </a:r>
                      <a:endParaRPr b="1" sz="17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500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solidFill>
                            <a:srgbClr val="1F1F1F"/>
                          </a:solidFill>
                        </a:rPr>
                        <a:t>CrewAI</a:t>
                      </a:r>
                      <a:endParaRPr b="1" sz="17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solidFill>
                            <a:srgbClr val="1F1F1F"/>
                          </a:solidFill>
                        </a:rPr>
                        <a:t>"The Manager's Choice."</a:t>
                      </a:r>
                      <a:r>
                        <a:rPr lang="en-GB" sz="1700">
                          <a:solidFill>
                            <a:srgbClr val="1F1F1F"/>
                          </a:solidFill>
                        </a:rPr>
                        <a:t> Use when the problem requires </a:t>
                      </a:r>
                      <a:r>
                        <a:rPr b="1" lang="en-GB" sz="1700">
                          <a:solidFill>
                            <a:srgbClr val="1F1F1F"/>
                          </a:solidFill>
                          <a:highlight>
                            <a:srgbClr val="FFFF00"/>
                          </a:highlight>
                        </a:rPr>
                        <a:t>autonomous teamwork</a:t>
                      </a:r>
                      <a:r>
                        <a:rPr lang="en-GB" sz="1700">
                          <a:solidFill>
                            <a:srgbClr val="1F1F1F"/>
                          </a:solidFill>
                        </a:rPr>
                        <a:t> and specialized roles.</a:t>
                      </a:r>
                      <a:endParaRPr sz="17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solidFill>
                            <a:srgbClr val="1F1F1F"/>
                          </a:solidFill>
                        </a:rPr>
                        <a:t>LangGraph</a:t>
                      </a:r>
                      <a:endParaRPr b="1" sz="17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solidFill>
                            <a:srgbClr val="1F1F1F"/>
                          </a:solidFill>
                        </a:rPr>
                        <a:t>"The Engineer's Choice."</a:t>
                      </a:r>
                      <a:r>
                        <a:rPr lang="en-GB" sz="1700">
                          <a:solidFill>
                            <a:srgbClr val="1F1F1F"/>
                          </a:solidFill>
                        </a:rPr>
                        <a:t> Use when you need to </a:t>
                      </a:r>
                      <a:r>
                        <a:rPr b="1" lang="en-GB" sz="1700">
                          <a:solidFill>
                            <a:srgbClr val="1F1F1F"/>
                          </a:solidFill>
                        </a:rPr>
                        <a:t>guarantee</a:t>
                      </a:r>
                      <a:r>
                        <a:rPr b="1" lang="en-GB" sz="1700">
                          <a:solidFill>
                            <a:srgbClr val="1F1F1F"/>
                          </a:solidFill>
                          <a:highlight>
                            <a:srgbClr val="FFFF00"/>
                          </a:highlight>
                        </a:rPr>
                        <a:t> specific logic paths</a:t>
                      </a:r>
                      <a:r>
                        <a:rPr lang="en-GB" sz="1700">
                          <a:solidFill>
                            <a:srgbClr val="1F1F1F"/>
                          </a:solidFill>
                        </a:rPr>
                        <a:t> and manage state transitions precisely.</a:t>
                      </a:r>
                      <a:endParaRPr b="1" sz="17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solidFill>
                            <a:srgbClr val="1F1F1F"/>
                          </a:solidFill>
                        </a:rPr>
                        <a:t>n8n</a:t>
                      </a:r>
                      <a:endParaRPr b="1" sz="17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solidFill>
                            <a:srgbClr val="1F1F1F"/>
                          </a:solidFill>
                        </a:rPr>
                        <a:t>"The Business Choice."</a:t>
                      </a:r>
                      <a:r>
                        <a:rPr lang="en-GB" sz="1700">
                          <a:solidFill>
                            <a:srgbClr val="1F1F1F"/>
                          </a:solidFill>
                        </a:rPr>
                        <a:t> Use for </a:t>
                      </a:r>
                      <a:r>
                        <a:rPr b="1" lang="en-GB" sz="1700">
                          <a:solidFill>
                            <a:srgbClr val="1F1F1F"/>
                          </a:solidFill>
                          <a:highlight>
                            <a:srgbClr val="FFFF00"/>
                          </a:highlight>
                        </a:rPr>
                        <a:t>quick integration</a:t>
                      </a:r>
                      <a:r>
                        <a:rPr lang="en-GB" sz="1700">
                          <a:solidFill>
                            <a:srgbClr val="1F1F1F"/>
                          </a:solidFill>
                        </a:rPr>
                        <a:t> of AI reasoning into existing business workflows</a:t>
                      </a:r>
                      <a:endParaRPr sz="17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solidFill>
                            <a:srgbClr val="1F1F1F"/>
                          </a:solidFill>
                        </a:rPr>
                        <a:t>Google ADK</a:t>
                      </a:r>
                      <a:endParaRPr b="1" sz="17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solidFill>
                            <a:srgbClr val="1F1F1F"/>
                          </a:solidFill>
                        </a:rPr>
                        <a:t>"The CTO's Choice."</a:t>
                      </a:r>
                      <a:r>
                        <a:rPr lang="en-GB" sz="1700">
                          <a:solidFill>
                            <a:srgbClr val="1F1F1F"/>
                          </a:solidFill>
                        </a:rPr>
                        <a:t> Use for </a:t>
                      </a:r>
                      <a:r>
                        <a:rPr b="1" lang="en-GB" sz="1700">
                          <a:solidFill>
                            <a:srgbClr val="1F1F1F"/>
                          </a:solidFill>
                        </a:rPr>
                        <a:t>high-security, high-scale, </a:t>
                      </a:r>
                      <a:r>
                        <a:rPr b="1" lang="en-GB" sz="1700">
                          <a:solidFill>
                            <a:srgbClr val="1F1F1F"/>
                          </a:solidFill>
                          <a:highlight>
                            <a:srgbClr val="FFFF00"/>
                          </a:highlight>
                        </a:rPr>
                        <a:t>production</a:t>
                      </a:r>
                      <a:r>
                        <a:rPr lang="en-GB" sz="1700">
                          <a:solidFill>
                            <a:srgbClr val="1F1F1F"/>
                          </a:solidFill>
                        </a:rPr>
                        <a:t> agents within the Cloud ecosystem.</a:t>
                      </a:r>
                      <a:endParaRPr sz="17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6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Honourable Mention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RAG-focused Framework: RAGFlow, LlamaIndex</a:t>
            </a:r>
            <a:endParaRPr/>
          </a:p>
        </p:txBody>
      </p:sp>
      <p:sp>
        <p:nvSpPr>
          <p:cNvPr id="408" name="Google Shape;408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Focuses on how to easily index doc and create agent on top of it.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Teach you what to expect in a good RAG solution such as: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Different document treatment (Q&amp;A, etc)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Chunking method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Summarization method, e.g. RAPTOR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09" name="Google Shape;409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775" y="3588625"/>
            <a:ext cx="2562626" cy="85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6868" y="3441943"/>
            <a:ext cx="2929476" cy="119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LLM Apps by Programming, not Prompting</a:t>
            </a:r>
            <a:endParaRPr/>
          </a:p>
        </p:txBody>
      </p:sp>
      <p:sp>
        <p:nvSpPr>
          <p:cNvPr id="416" name="Google Shape;416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https://dspy.ai/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See example below, instead of writing some prompting, dspy use a syntax like function definition.</a:t>
            </a:r>
            <a:endParaRPr/>
          </a:p>
        </p:txBody>
      </p:sp>
      <p:sp>
        <p:nvSpPr>
          <p:cNvPr id="417" name="Google Shape;417;p64"/>
          <p:cNvSpPr txBox="1"/>
          <p:nvPr/>
        </p:nvSpPr>
        <p:spPr>
          <a:xfrm>
            <a:off x="384675" y="2661000"/>
            <a:ext cx="8041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8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math</a:t>
            </a:r>
            <a:r>
              <a:rPr b="1" lang="en-GB" sz="18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GB" sz="18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en-GB" sz="18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dspy.ChainOfThought(</a:t>
            </a:r>
            <a:r>
              <a:rPr b="1" lang="en-GB" sz="18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"question -&gt; answer: float"</a:t>
            </a:r>
            <a:r>
              <a:rPr b="1" lang="en-GB" sz="18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8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8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math</a:t>
            </a:r>
            <a:r>
              <a:rPr b="1" lang="en-GB" sz="18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-GB" sz="18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question</a:t>
            </a:r>
            <a:r>
              <a:rPr b="1" lang="en-GB" sz="18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en-GB" sz="18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"Two dice are tossed. What is the probability that the sum equals two?"</a:t>
            </a:r>
            <a:r>
              <a:rPr b="1" lang="en-GB" sz="18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8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LLM Router &amp; Fallback Library</a:t>
            </a:r>
            <a:endParaRPr/>
          </a:p>
        </p:txBody>
      </p:sp>
      <p:sp>
        <p:nvSpPr>
          <p:cNvPr id="423" name="Google Shape;423;p65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Most prominent: LiteLLM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OpenAI API compatible. Consistent input / output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Fallback logic across multiple deployments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Set Budgets &amp; Rate limits</a:t>
            </a:r>
            <a:endParaRPr sz="1600"/>
          </a:p>
        </p:txBody>
      </p:sp>
      <p:pic>
        <p:nvPicPr>
          <p:cNvPr id="424" name="Google Shape;424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0776" y="560775"/>
            <a:ext cx="2327775" cy="707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25" name="Google Shape;425;p65"/>
          <p:cNvGraphicFramePr/>
          <p:nvPr/>
        </p:nvGraphicFramePr>
        <p:xfrm>
          <a:off x="568100" y="245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{97FBD8ED-221D-4B45-9652-06485656276D}</a:tableStyleId>
              </a:tblPr>
              <a:tblGrid>
                <a:gridCol w="7239000"/>
              </a:tblGrid>
              <a:tr h="2359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AF00D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from</a:t>
                      </a:r>
                      <a:r>
                        <a:rPr b="1" lang="en-GB" sz="1200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litellm </a:t>
                      </a:r>
                      <a:r>
                        <a:rPr b="1" lang="en-GB" sz="1200">
                          <a:solidFill>
                            <a:srgbClr val="AF00D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import</a:t>
                      </a:r>
                      <a:r>
                        <a:rPr b="1" lang="en-GB" sz="1200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Router</a:t>
                      </a:r>
                      <a:endParaRPr b="1" sz="1200">
                        <a:solidFill>
                          <a:srgbClr val="3B3B3B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1080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router</a:t>
                      </a:r>
                      <a:r>
                        <a:rPr b="1" lang="en-GB" sz="1200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b="1" lang="en-GB" sz="12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</a:t>
                      </a:r>
                      <a:r>
                        <a:rPr b="1" lang="en-GB" sz="1200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Router(</a:t>
                      </a:r>
                      <a:endParaRPr b="1" sz="1200">
                        <a:solidFill>
                          <a:srgbClr val="3B3B3B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b="1" lang="en-GB" sz="1200">
                          <a:solidFill>
                            <a:srgbClr val="001080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model_list</a:t>
                      </a:r>
                      <a:r>
                        <a:rPr b="1" lang="en-GB" sz="12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</a:t>
                      </a:r>
                      <a:r>
                        <a:rPr b="1" lang="en-GB" sz="1200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[</a:t>
                      </a:r>
                      <a:endParaRPr b="1" sz="1200">
                        <a:solidFill>
                          <a:srgbClr val="3B3B3B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{</a:t>
                      </a:r>
                      <a:r>
                        <a:rPr b="1" lang="en-GB" sz="1200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"model_name"</a:t>
                      </a:r>
                      <a:r>
                        <a:rPr b="1" lang="en-GB" sz="1200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: </a:t>
                      </a:r>
                      <a:r>
                        <a:rPr b="1" lang="en-GB" sz="1200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"gpt-3.5-turbo"</a:t>
                      </a:r>
                      <a:r>
                        <a:rPr b="1" lang="en-GB" sz="1200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b="1" lang="en-GB" sz="1200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"litellm_params"</a:t>
                      </a:r>
                      <a:r>
                        <a:rPr b="1" lang="en-GB" sz="1200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: {}},</a:t>
                      </a:r>
                      <a:endParaRPr b="1" sz="1200">
                        <a:solidFill>
                          <a:srgbClr val="3B3B3B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{</a:t>
                      </a:r>
                      <a:r>
                        <a:rPr b="1" lang="en-GB" sz="1200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"model_name"</a:t>
                      </a:r>
                      <a:r>
                        <a:rPr b="1" lang="en-GB" sz="1200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: </a:t>
                      </a:r>
                      <a:r>
                        <a:rPr b="1" lang="en-GB" sz="1200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"gpt-4"</a:t>
                      </a:r>
                      <a:r>
                        <a:rPr b="1" lang="en-GB" sz="1200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</a:t>
                      </a:r>
                      <a:r>
                        <a:rPr b="1" lang="en-GB" sz="1200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"litellm_params"</a:t>
                      </a:r>
                      <a:r>
                        <a:rPr b="1" lang="en-GB" sz="1200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: {}}</a:t>
                      </a:r>
                      <a:endParaRPr b="1" sz="1200">
                        <a:solidFill>
                          <a:srgbClr val="3B3B3B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],</a:t>
                      </a:r>
                      <a:endParaRPr b="1" sz="1200">
                        <a:solidFill>
                          <a:srgbClr val="3B3B3B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b="1" lang="en-GB" sz="1200">
                          <a:solidFill>
                            <a:srgbClr val="001080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fallbacks</a:t>
                      </a:r>
                      <a:r>
                        <a:rPr b="1" lang="en-GB" sz="12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</a:t>
                      </a:r>
                      <a:r>
                        <a:rPr b="1" lang="en-GB" sz="1200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[{</a:t>
                      </a:r>
                      <a:r>
                        <a:rPr b="1" lang="en-GB" sz="1200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"gpt-3.5-turbo"</a:t>
                      </a:r>
                      <a:r>
                        <a:rPr b="1" lang="en-GB" sz="1200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: [</a:t>
                      </a:r>
                      <a:r>
                        <a:rPr b="1" lang="en-GB" sz="1200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"gpt-4"</a:t>
                      </a:r>
                      <a:r>
                        <a:rPr b="1" lang="en-GB" sz="1200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]}] </a:t>
                      </a:r>
                      <a:r>
                        <a:rPr b="1" lang="en-GB" sz="1200">
                          <a:solidFill>
                            <a:srgbClr val="008000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👈 KEY CHANGE</a:t>
                      </a:r>
                      <a:endParaRPr b="1" sz="1200">
                        <a:solidFill>
                          <a:srgbClr val="008000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3B3B3B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b="1" sz="17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LLMApps Observability Tools: AgentOps</a:t>
            </a:r>
            <a:endParaRPr/>
          </a:p>
        </p:txBody>
      </p:sp>
      <p:pic>
        <p:nvPicPr>
          <p:cNvPr id="431" name="Google Shape;431;p66" title="Screenshot 2025-12-13 at 06.13.3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776" y="1496400"/>
            <a:ext cx="6244198" cy="2814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LLM Apps Training Library with Reinforcement Learning</a:t>
            </a:r>
            <a:endParaRPr/>
          </a:p>
        </p:txBody>
      </p:sp>
      <p:sp>
        <p:nvSpPr>
          <p:cNvPr id="437" name="Google Shape;437;p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Optimize prompting and other agentic configuration using reinforcement learning.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E.g. Microsoft’s Agent Lightning</a:t>
            </a:r>
            <a:endParaRPr/>
          </a:p>
        </p:txBody>
      </p:sp>
      <p:pic>
        <p:nvPicPr>
          <p:cNvPr id="438" name="Google Shape;438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9000" y="2201888"/>
            <a:ext cx="6934200" cy="248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Closing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Out of all the options, there are more similarity than difference, especially for common use cases.</a:t>
            </a:r>
            <a:endParaRPr sz="17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-GB" sz="1700"/>
              <a:t>More hands on is the key.</a:t>
            </a:r>
            <a:endParaRPr b="1" i="1" sz="17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-GB" sz="2400">
                <a:highlight>
                  <a:srgbClr val="FFFF00"/>
                </a:highlight>
              </a:rPr>
              <a:t>Actionables: Pick the easiest one, take one use case, go on and develop one.</a:t>
            </a:r>
            <a:endParaRPr i="1" sz="24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7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700"/>
              <a:t>As you understand one framework, it will get easier to learn the others.</a:t>
            </a:r>
            <a:endParaRPr sz="1700"/>
          </a:p>
        </p:txBody>
      </p:sp>
      <p:sp>
        <p:nvSpPr>
          <p:cNvPr id="449" name="Google Shape;449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LLM App Dev Ecosystem is still young… (&lt;4 years)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70"/>
          <p:cNvSpPr txBox="1"/>
          <p:nvPr>
            <p:ph type="title"/>
          </p:nvPr>
        </p:nvSpPr>
        <p:spPr>
          <a:xfrm>
            <a:off x="311700" y="1152575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</a:t>
            </a:r>
            <a:endParaRPr/>
          </a:p>
        </p:txBody>
      </p:sp>
      <p:pic>
        <p:nvPicPr>
          <p:cNvPr id="455" name="Google Shape;455;p70" title="LogoVertikal-PyConID25@8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0031" y="2289876"/>
            <a:ext cx="923949" cy="1205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